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F530EC-99A3-4AD7-891D-335B43660CD9}">
  <a:tblStyle styleId="{A9F530EC-99A3-4AD7-891D-335B43660C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07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1440d44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281440d44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1440d444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1440d444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1440d444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1440d444c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1440d444c_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1440d444c_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1440d444c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81440d444c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81440d444c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81440d444c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81440d444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81440d444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1440d444c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1440d444c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81440d444c_6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81440d444c_6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4460ba7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4460ba7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4460ba717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4460ba717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4460ba717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4460ba717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81440d444c_6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81440d444c_6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81440d444c_6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81440d444c_6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1440d444c_6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81440d444c_6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1440d444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81440d444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ko/%EB%B3%8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08A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 rot="-5400000">
            <a:off x="-781050" y="2190747"/>
            <a:ext cx="5143500" cy="762000"/>
          </a:xfrm>
          <a:prstGeom prst="round2SameRect">
            <a:avLst>
              <a:gd name="adj1" fmla="val 12683"/>
              <a:gd name="adj2" fmla="val 0"/>
            </a:avLst>
          </a:prstGeom>
          <a:solidFill>
            <a:srgbClr val="01308A"/>
          </a:solidFill>
          <a:ln>
            <a:noFill/>
          </a:ln>
          <a:effectLst>
            <a:outerShdw blurRad="444500" dist="228600" dir="10800000" algn="r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1409704" y="1751712"/>
            <a:ext cx="1976028" cy="905084"/>
            <a:chOff x="165096" y="2011035"/>
            <a:chExt cx="1016005" cy="465363"/>
          </a:xfrm>
        </p:grpSpPr>
        <p:sp>
          <p:nvSpPr>
            <p:cNvPr id="62" name="Google Shape;62;p14"/>
            <p:cNvSpPr/>
            <p:nvPr/>
          </p:nvSpPr>
          <p:spPr>
            <a:xfrm flipH="1">
              <a:off x="165096" y="2024069"/>
              <a:ext cx="1016005" cy="452329"/>
            </a:xfrm>
            <a:custGeom>
              <a:avLst/>
              <a:gdLst/>
              <a:ahLst/>
              <a:cxnLst/>
              <a:rect l="l" t="t" r="r" b="b"/>
              <a:pathLst>
                <a:path w="1016005" h="452329" extrusionOk="0">
                  <a:moveTo>
                    <a:pt x="0" y="190193"/>
                  </a:moveTo>
                  <a:lnTo>
                    <a:pt x="0" y="262134"/>
                  </a:lnTo>
                  <a:lnTo>
                    <a:pt x="62018" y="226163"/>
                  </a:lnTo>
                  <a:close/>
                  <a:moveTo>
                    <a:pt x="1016005" y="0"/>
                  </a:moveTo>
                  <a:lnTo>
                    <a:pt x="1007119" y="44013"/>
                  </a:lnTo>
                  <a:cubicBezTo>
                    <a:pt x="989952" y="84602"/>
                    <a:pt x="949762" y="113081"/>
                    <a:pt x="902920" y="113081"/>
                  </a:cubicBezTo>
                  <a:lnTo>
                    <a:pt x="894558" y="111393"/>
                  </a:lnTo>
                  <a:lnTo>
                    <a:pt x="894558" y="113081"/>
                  </a:lnTo>
                  <a:lnTo>
                    <a:pt x="244743" y="113081"/>
                  </a:lnTo>
                  <a:cubicBezTo>
                    <a:pt x="182287" y="113081"/>
                    <a:pt x="131657" y="163711"/>
                    <a:pt x="131657" y="226167"/>
                  </a:cubicBezTo>
                  <a:cubicBezTo>
                    <a:pt x="131657" y="288623"/>
                    <a:pt x="182288" y="339253"/>
                    <a:pt x="244743" y="339253"/>
                  </a:cubicBezTo>
                  <a:lnTo>
                    <a:pt x="894558" y="339253"/>
                  </a:lnTo>
                  <a:lnTo>
                    <a:pt x="894558" y="340941"/>
                  </a:lnTo>
                  <a:lnTo>
                    <a:pt x="902921" y="339253"/>
                  </a:lnTo>
                  <a:cubicBezTo>
                    <a:pt x="949763" y="339253"/>
                    <a:pt x="989953" y="367732"/>
                    <a:pt x="1007120" y="408321"/>
                  </a:cubicBezTo>
                  <a:lnTo>
                    <a:pt x="1016005" y="452329"/>
                  </a:lnTo>
                  <a:close/>
                </a:path>
              </a:pathLst>
            </a:custGeom>
            <a:gradFill>
              <a:gsLst>
                <a:gs pos="0">
                  <a:srgbClr val="5ACDC6"/>
                </a:gs>
                <a:gs pos="90000">
                  <a:srgbClr val="5ACDC6"/>
                </a:gs>
                <a:gs pos="92000">
                  <a:schemeClr val="lt1"/>
                </a:gs>
                <a:gs pos="100000">
                  <a:schemeClr val="lt1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SSAFY 11기</a:t>
              </a:r>
              <a:endParaRPr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010189" y="2011035"/>
              <a:ext cx="130800" cy="130800"/>
            </a:xfrm>
            <a:prstGeom prst="ellipse">
              <a:avLst/>
            </a:prstGeom>
            <a:solidFill>
              <a:srgbClr val="FFD96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i="0" u="none" strike="noStrike" cap="none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1486017" y="2049026"/>
            <a:ext cx="275741" cy="310481"/>
            <a:chOff x="5395869" y="2650519"/>
            <a:chExt cx="1458947" cy="1642754"/>
          </a:xfrm>
        </p:grpSpPr>
        <p:sp>
          <p:nvSpPr>
            <p:cNvPr id="65" name="Google Shape;65;p14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14"/>
          <p:cNvSpPr txBox="1"/>
          <p:nvPr/>
        </p:nvSpPr>
        <p:spPr>
          <a:xfrm>
            <a:off x="3385725" y="1715563"/>
            <a:ext cx="4888800" cy="21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300" b="1" i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SDC 1차 과제 리뷰</a:t>
            </a:r>
            <a:endParaRPr sz="3300" b="1" i="1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 b="1" i="1">
                <a:solidFill>
                  <a:srgbClr val="5ACDC6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" sz="2300" b="1" i="1">
                <a:solidFill>
                  <a:srgbClr val="5ACD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이미지-텍스트 컷믹스 증강 기법을 통해 개선된 시각 언어 모델 개발</a:t>
            </a:r>
            <a:endParaRPr sz="2300" b="1" i="1">
              <a:solidFill>
                <a:srgbClr val="5ACDC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i="1">
              <a:solidFill>
                <a:srgbClr val="5ACDC6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i="1">
              <a:solidFill>
                <a:srgbClr val="5ACDC6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392425" y="3469300"/>
            <a:ext cx="24057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SSAFY 11기 S006</a:t>
            </a:r>
            <a:br>
              <a:rPr lang="ko" b="1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b="1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이승주, 김민욱, 김희정, </a:t>
            </a:r>
            <a:br>
              <a:rPr lang="ko" b="1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b="1" i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서종원, 신원철, 이서영</a:t>
            </a:r>
            <a:endParaRPr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465600" y="7792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</a:rPr>
              <a:t>1. 자기소개 (IceBreaking)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</a:rPr>
              <a:t>2. 학습 내용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</a:rPr>
              <a:t>3. Action Plan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dk1"/>
                </a:solidFill>
              </a:rPr>
              <a:t>4. QnA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5. 멘토링 툴 / 시간 협의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7" name="Google Shape;77;p15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79" name="Google Shape;79;p15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6"/>
          <p:cNvGraphicFramePr/>
          <p:nvPr/>
        </p:nvGraphicFramePr>
        <p:xfrm>
          <a:off x="3486250" y="1617450"/>
          <a:ext cx="5203200" cy="2501850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260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1학기 트랙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2학기 목표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Python (비전공)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>
                          <a:solidFill>
                            <a:schemeClr val="hlink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hlinkClick r:id="rId3"/>
                        </a:rPr>
                        <a:t>⭐</a:t>
                      </a:r>
                      <a:r>
                        <a:rPr lang="ko"/>
                        <a:t>수.료</a:t>
                      </a:r>
                      <a:r>
                        <a:rPr lang="ko" sz="1500">
                          <a:highlight>
                            <a:srgbClr val="FFFFFF"/>
                          </a:highlight>
                        </a:rPr>
                        <a:t>⭐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취미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MBTI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방탈출, 독서, 게임, 유튜브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INTJ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생년월일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가치관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2000.02.27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지나간 일은 어차피 못 바꾼다.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550" y="1617450"/>
            <a:ext cx="2501851" cy="25018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자기소개 (이승주)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9" name="Google Shape;89;p16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0" name="Google Shape;90;p16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1" name="Google Shape;91;p16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92" name="Google Shape;92;p16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7"/>
          <p:cNvGraphicFramePr/>
          <p:nvPr/>
        </p:nvGraphicFramePr>
        <p:xfrm>
          <a:off x="952500" y="1428750"/>
          <a:ext cx="7239000" cy="2377260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1학기 트랙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2학기 목표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자바 전공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멘토님이 만족할만한 결과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취미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MBTI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집에서 누워있기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ISTP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생년월일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가치관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1999.09.15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모르는 것은 있을 수 있어도 못할 것은 없다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" name="Google Shape;100;p17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자기소개 (서종원)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1" name="Google Shape;101;p17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7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3" name="Google Shape;103;p17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04" name="Google Shape;104;p17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18"/>
          <p:cNvGraphicFramePr/>
          <p:nvPr/>
        </p:nvGraphicFramePr>
        <p:xfrm>
          <a:off x="489200" y="1376700"/>
          <a:ext cx="7836550" cy="2409264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391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1학기 트랙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2학기 목표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Java 전공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취미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MBTI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기타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eSTP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생년월일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가치관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1998.04.06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04040"/>
                          </a:solidFill>
                        </a:rPr>
                        <a:t>바꿀 수 있는 건 미래 뿐이다.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2" name="Google Shape;112;p18"/>
          <p:cNvSpPr txBox="1"/>
          <p:nvPr/>
        </p:nvSpPr>
        <p:spPr>
          <a:xfrm>
            <a:off x="577575" y="388192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chemeClr val="dk2"/>
                </a:solidFill>
              </a:rPr>
              <a:t>프로젝트 각오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048750" y="4308900"/>
            <a:ext cx="498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404040"/>
                </a:solidFill>
              </a:rPr>
              <a:t>소중한 기회인 만큼 후회 없는 경험을 쌓겠습니다.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25" y="4410150"/>
            <a:ext cx="266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5393" y="1768901"/>
            <a:ext cx="120543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자기소개 (신원철)</a:t>
            </a:r>
            <a:endParaRPr sz="2000" b="1" i="1">
              <a:solidFill>
                <a:srgbClr val="0130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7" name="Google Shape;117;p18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18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9" name="Google Shape;119;p18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20" name="Google Shape;120;p18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19"/>
          <p:cNvGraphicFramePr/>
          <p:nvPr/>
        </p:nvGraphicFramePr>
        <p:xfrm>
          <a:off x="952500" y="1428750"/>
          <a:ext cx="7239000" cy="2377260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1학기 트랙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2학기 목표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Java 전공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즐겁게 프로젝트 참여하기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취미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MBTI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컴퓨터 게임, 넷플릭스 보기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INTJ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생년월일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가치관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1998.03.12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모르는 것은 있어도 못하는 것은 없다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8" name="Google Shape;128;p19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자기소개 (김민욱)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9" name="Google Shape;129;p19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19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1" name="Google Shape;131;p19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32" name="Google Shape;132;p19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9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20"/>
          <p:cNvGraphicFramePr/>
          <p:nvPr/>
        </p:nvGraphicFramePr>
        <p:xfrm>
          <a:off x="952500" y="1428750"/>
          <a:ext cx="7239000" cy="2377260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1학기 트랙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2학기 목표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Java 비전공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대기업 취뽀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취미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MBTI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게임 영상보기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ISFP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생년월일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가치관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1998.12.23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후회할 일 만들지 말자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0" name="Google Shape;140;p20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자기소개 (이서영)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1" name="Google Shape;141;p20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p20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3" name="Google Shape;143;p20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44" name="Google Shape;144;p20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0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21"/>
          <p:cNvGraphicFramePr/>
          <p:nvPr/>
        </p:nvGraphicFramePr>
        <p:xfrm>
          <a:off x="3885825" y="1009900"/>
          <a:ext cx="4954050" cy="2377260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247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1학기 트랙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2학기 목표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Java 전공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대기업 취뽀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취미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MBTI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수영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INFP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생년월일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가치관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BE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2000.06.06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현재에 최선을 다하자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875" y="751350"/>
            <a:ext cx="3242173" cy="324217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자기소개 (김희정)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4" name="Google Shape;154;p21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5" name="Google Shape;155;p21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6" name="Google Shape;156;p21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57" name="Google Shape;157;p21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885825" y="61400"/>
            <a:ext cx="62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관련 학습 내용: CutMix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22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6" name="Google Shape;166;p22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67" name="Google Shape;167;p22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2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0" name="Google Shape;170;p22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25" y="1135050"/>
            <a:ext cx="3066699" cy="30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3746775" y="752500"/>
            <a:ext cx="5158500" cy="17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" sz="1700" b="1">
                <a:solidFill>
                  <a:schemeClr val="dk1"/>
                </a:solidFill>
              </a:rPr>
              <a:t>CutMix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서로 다른 이미지의 부분 영역을 합쳐 하나의 이미지로 만드는 기법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Mixup에 경우 5대5로 Label을 구성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Cutmix의 경우 비율에 따라서 Label을 구성하고 2장 이상의 사진을 활용해서 구성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같은 크기의 이미지가 필요함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텍스트 - 이미지 CutMix는 레이블 지정이 어떻게 될까?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6971" y="2720796"/>
            <a:ext cx="4538099" cy="17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/>
        </p:nvSpPr>
        <p:spPr>
          <a:xfrm>
            <a:off x="885825" y="61400"/>
            <a:ext cx="62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관련 학습 내용: MiniCPM-V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23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0" name="Google Shape;180;p23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81" name="Google Shape;181;p23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3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4" name="Google Shape;184;p23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75" y="858550"/>
            <a:ext cx="5113096" cy="32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5488800" y="612175"/>
            <a:ext cx="3409500" cy="22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Overall Structure</a:t>
            </a:r>
            <a:endParaRPr sz="13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visual encoder ( SigLIP SoViT-400m/14 )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image encode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adaptive visual encoding 방식 사용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compression layer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 perceiver resampler structure with one layer cross-attention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압축된 visual token은 input text와 함께 LLM에 전달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449825" y="2803450"/>
            <a:ext cx="3409500" cy="23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chemeClr val="dk1"/>
                </a:solidFill>
              </a:rPr>
              <a:t>Adaptive Visual Encoding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OCR같은 경우 이미지의 종횡비같은 특성이 중요하기 때문에 이미지 원본을 인코딩하는 것이 중요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가능하게 해주는 것이 이 적응형, 사전 학습된 ViT와 결합하기 위한 방법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Partition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Slice Encoding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 Compression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-"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Spatial Schema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/>
        </p:nvSpPr>
        <p:spPr>
          <a:xfrm>
            <a:off x="885825" y="61400"/>
            <a:ext cx="62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관련 학습 내용: MiniCPM-V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24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4" name="Google Shape;194;p24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195" name="Google Shape;195;p24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4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8" name="Google Shape;198;p24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9" name="Google Shape;199;p24"/>
          <p:cNvSpPr txBox="1"/>
          <p:nvPr/>
        </p:nvSpPr>
        <p:spPr>
          <a:xfrm>
            <a:off x="595075" y="1050825"/>
            <a:ext cx="7593000" cy="26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벤치마크</a:t>
            </a:r>
            <a:endParaRPr sz="1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rabicPeriod"/>
            </a:pPr>
            <a:r>
              <a:rPr lang="ko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벤치마크</a:t>
            </a:r>
            <a:endParaRPr sz="13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OpenCompass, MME, MM벤치, MMMU, MathVista, LLaVA 벤치 등을 포함한 11개의 인기 있는 멀티모달 벤치마크를 포괄적으로 수집한 일반 평가 지표로서 사용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또한 실제 공간 이해 기능에 대한 RealWorldQA에 대한 결과도 보고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rabicPeriod"/>
            </a:pPr>
            <a:r>
              <a:rPr lang="ko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OCR 벤치마크</a:t>
            </a:r>
            <a:endParaRPr sz="13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우리는 OCR 기능 평가를 위해 널리 사용되는 세 가지 벤치마크를 채택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OCRBench , TextVQA, DocVQA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rabicPeriod"/>
            </a:pPr>
            <a:r>
              <a:rPr lang="ko"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Hallucination 벤치마크</a:t>
            </a:r>
            <a:endParaRPr sz="13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algun Gothic"/>
              <a:buAutoNum type="alphaLcPeriod"/>
            </a:pPr>
            <a:r>
              <a:rPr lang="ko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 HalBench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/>
        </p:nvSpPr>
        <p:spPr>
          <a:xfrm>
            <a:off x="885825" y="61400"/>
            <a:ext cx="624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관련 학습 내용: MiniCPM-V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25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06" name="Google Shape;206;p25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207" name="Google Shape;207;p25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5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0" name="Google Shape;210;p25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Google Shape;211;p25"/>
          <p:cNvSpPr txBox="1"/>
          <p:nvPr/>
        </p:nvSpPr>
        <p:spPr>
          <a:xfrm>
            <a:off x="595075" y="806450"/>
            <a:ext cx="7593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" sz="2300" b="1">
                <a:solidFill>
                  <a:srgbClr val="1F2328"/>
                </a:solidFill>
                <a:highlight>
                  <a:srgbClr val="FFFFFF"/>
                </a:highlight>
              </a:rPr>
              <a:t>MiniCPM-V Finetuning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916075" y="798800"/>
            <a:ext cx="490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https://github.com/OpenBMB/MiniCPM-V/tree/main/finetune#model-fine-tuning-memory-usage-statistics</a:t>
            </a:r>
            <a:endParaRPr sz="1200"/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975" y="1461300"/>
            <a:ext cx="6895050" cy="335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 Plan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26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0" name="Google Shape;220;p26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221" name="Google Shape;221;p26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24" name="Google Shape;224;p26"/>
          <p:cNvGraphicFramePr/>
          <p:nvPr>
            <p:extLst>
              <p:ext uri="{D42A27DB-BD31-4B8C-83A1-F6EECF244321}">
                <p14:modId xmlns:p14="http://schemas.microsoft.com/office/powerpoint/2010/main" val="3238472808"/>
              </p:ext>
            </p:extLst>
          </p:nvPr>
        </p:nvGraphicFramePr>
        <p:xfrm>
          <a:off x="769519" y="790718"/>
          <a:ext cx="7523347" cy="4020090"/>
        </p:xfrm>
        <a:graphic>
          <a:graphicData uri="http://schemas.openxmlformats.org/drawingml/2006/table">
            <a:tbl>
              <a:tblPr>
                <a:noFill/>
                <a:tableStyleId>{A9F530EC-99A3-4AD7-891D-335B43660CD9}</a:tableStyleId>
              </a:tblPr>
              <a:tblGrid>
                <a:gridCol w="1910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18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1주차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2주차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3주차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4주차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5주차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6주차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7주차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Multimodal LLM 공부 – 논문 리뷰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CutMix 공부 - 논문 리뷰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개발 환경 구축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데이터 수집 (Image &amp; Text)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다양한 기존 VLM 구현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CutMix 기반 데이터 증강 기법 개발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 dirty="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데이터 증강 기법을 통한 데이터 생성</a:t>
                      </a:r>
                      <a:endParaRPr sz="800" dirty="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Prompt Engineering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Fine Tuning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모델 성능 평가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Hyper-parameter Tuning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웹으로 구현 (</a:t>
                      </a:r>
                      <a:r>
                        <a:rPr lang="ko" sz="800" i="1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Optional</a:t>
                      </a:r>
                      <a:r>
                        <a:rPr lang="ko" sz="800">
                          <a:solidFill>
                            <a:schemeClr val="lt2"/>
                          </a:solidFill>
                          <a:latin typeface="Do Hyeon"/>
                          <a:ea typeface="Do Hyeon"/>
                          <a:cs typeface="Do Hyeon"/>
                          <a:sym typeface="Do Hyeon"/>
                        </a:rPr>
                        <a:t>)</a:t>
                      </a:r>
                      <a:endParaRPr sz="800">
                        <a:solidFill>
                          <a:schemeClr val="lt2"/>
                        </a:solidFill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08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Do Hyeon"/>
                        <a:ea typeface="Do Hyeon"/>
                        <a:cs typeface="Do Hyeon"/>
                        <a:sym typeface="Do Hye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AC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225" name="Google Shape;225;p26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08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/>
        </p:nvSpPr>
        <p:spPr>
          <a:xfrm>
            <a:off x="2642859" y="1867300"/>
            <a:ext cx="38583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2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i="1">
                <a:solidFill>
                  <a:srgbClr val="FFFFFF"/>
                </a:solidFill>
                <a:latin typeface="Do Hyeon"/>
                <a:ea typeface="Do Hyeon"/>
                <a:cs typeface="Do Hyeon"/>
                <a:sym typeface="Do Hyeon"/>
              </a:rPr>
              <a:t>QnA</a:t>
            </a:r>
            <a:endParaRPr sz="2600" i="1">
              <a:solidFill>
                <a:srgbClr val="5ACDC6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3042294" y="1800624"/>
            <a:ext cx="254400" cy="254400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>
              <a:solidFill>
                <a:srgbClr val="0130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/>
        </p:nvSpPr>
        <p:spPr>
          <a:xfrm>
            <a:off x="885825" y="6138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i="1">
                <a:solidFill>
                  <a:srgbClr val="01308A"/>
                </a:solidFill>
                <a:latin typeface="Malgun Gothic"/>
                <a:ea typeface="Malgun Gothic"/>
                <a:cs typeface="Malgun Gothic"/>
                <a:sym typeface="Malgun Gothic"/>
              </a:rPr>
              <a:t>Mentoring Tool / Time</a:t>
            </a:r>
            <a:endParaRPr sz="3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28"/>
          <p:cNvSpPr/>
          <p:nvPr/>
        </p:nvSpPr>
        <p:spPr>
          <a:xfrm flipH="1">
            <a:off x="76199" y="-2"/>
            <a:ext cx="762000" cy="502200"/>
          </a:xfrm>
          <a:prstGeom prst="round1Rect">
            <a:avLst>
              <a:gd name="adj" fmla="val 33153"/>
            </a:avLst>
          </a:prstGeom>
          <a:solidFill>
            <a:srgbClr val="01308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8" name="Google Shape;238;p28"/>
          <p:cNvGrpSpPr/>
          <p:nvPr/>
        </p:nvGrpSpPr>
        <p:grpSpPr>
          <a:xfrm>
            <a:off x="319334" y="101418"/>
            <a:ext cx="275741" cy="310481"/>
            <a:chOff x="5395869" y="2650519"/>
            <a:chExt cx="1458947" cy="1642754"/>
          </a:xfrm>
        </p:grpSpPr>
        <p:sp>
          <p:nvSpPr>
            <p:cNvPr id="239" name="Google Shape;239;p28"/>
            <p:cNvSpPr/>
            <p:nvPr/>
          </p:nvSpPr>
          <p:spPr>
            <a:xfrm>
              <a:off x="5628161" y="2650519"/>
              <a:ext cx="943373" cy="1642754"/>
            </a:xfrm>
            <a:custGeom>
              <a:avLst/>
              <a:gdLst/>
              <a:ahLst/>
              <a:cxnLst/>
              <a:rect l="l" t="t" r="r" b="b"/>
              <a:pathLst>
                <a:path w="943373" h="1642754" extrusionOk="0">
                  <a:moveTo>
                    <a:pt x="558294" y="0"/>
                  </a:moveTo>
                  <a:lnTo>
                    <a:pt x="943373" y="0"/>
                  </a:lnTo>
                  <a:lnTo>
                    <a:pt x="430222" y="1509968"/>
                  </a:lnTo>
                  <a:cubicBezTo>
                    <a:pt x="416883" y="1549172"/>
                    <a:pt x="390851" y="1581105"/>
                    <a:pt x="352120" y="1605763"/>
                  </a:cubicBezTo>
                  <a:cubicBezTo>
                    <a:pt x="313390" y="1630424"/>
                    <a:pt x="273792" y="1642754"/>
                    <a:pt x="233323" y="1642754"/>
                  </a:cubicBezTo>
                  <a:lnTo>
                    <a:pt x="0" y="16427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8"/>
            <p:cNvSpPr/>
            <p:nvPr/>
          </p:nvSpPr>
          <p:spPr>
            <a:xfrm rot="10800000">
              <a:off x="5395869" y="2651321"/>
              <a:ext cx="643201" cy="867136"/>
            </a:xfrm>
            <a:custGeom>
              <a:avLst/>
              <a:gdLst/>
              <a:ahLst/>
              <a:cxnLst/>
              <a:rect l="l" t="t" r="r" b="b"/>
              <a:pathLst>
                <a:path w="710719" h="958161" extrusionOk="0">
                  <a:moveTo>
                    <a:pt x="325633" y="0"/>
                  </a:moveTo>
                  <a:lnTo>
                    <a:pt x="710719" y="0"/>
                  </a:lnTo>
                  <a:lnTo>
                    <a:pt x="430222" y="825375"/>
                  </a:lnTo>
                  <a:cubicBezTo>
                    <a:pt x="416883" y="864579"/>
                    <a:pt x="390851" y="896512"/>
                    <a:pt x="352120" y="921170"/>
                  </a:cubicBezTo>
                  <a:cubicBezTo>
                    <a:pt x="313390" y="945831"/>
                    <a:pt x="273792" y="958161"/>
                    <a:pt x="233323" y="958161"/>
                  </a:cubicBezTo>
                  <a:lnTo>
                    <a:pt x="0" y="9581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6393134" y="3186398"/>
              <a:ext cx="461682" cy="332059"/>
            </a:xfrm>
            <a:custGeom>
              <a:avLst/>
              <a:gdLst/>
              <a:ahLst/>
              <a:cxnLst/>
              <a:rect l="l" t="t" r="r" b="b"/>
              <a:pathLst>
                <a:path w="461682" h="332059" extrusionOk="0">
                  <a:moveTo>
                    <a:pt x="112851" y="0"/>
                  </a:moveTo>
                  <a:lnTo>
                    <a:pt x="461682" y="0"/>
                  </a:lnTo>
                  <a:lnTo>
                    <a:pt x="389711" y="211777"/>
                  </a:lnTo>
                  <a:cubicBezTo>
                    <a:pt x="377628" y="247289"/>
                    <a:pt x="354048" y="276215"/>
                    <a:pt x="318964" y="298551"/>
                  </a:cubicBezTo>
                  <a:cubicBezTo>
                    <a:pt x="283880" y="320890"/>
                    <a:pt x="248011" y="332059"/>
                    <a:pt x="211353" y="332059"/>
                  </a:cubicBezTo>
                  <a:lnTo>
                    <a:pt x="0" y="3320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2" name="Google Shape;242;p28"/>
          <p:cNvCxnSpPr/>
          <p:nvPr/>
        </p:nvCxnSpPr>
        <p:spPr>
          <a:xfrm>
            <a:off x="76193" y="502189"/>
            <a:ext cx="8910000" cy="0"/>
          </a:xfrm>
          <a:prstGeom prst="straightConnector1">
            <a:avLst/>
          </a:prstGeom>
          <a:noFill/>
          <a:ln w="9525" cap="flat" cmpd="sng">
            <a:solidFill>
              <a:srgbClr val="5ACD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p28"/>
          <p:cNvSpPr txBox="1"/>
          <p:nvPr/>
        </p:nvSpPr>
        <p:spPr>
          <a:xfrm>
            <a:off x="1011825" y="3352300"/>
            <a:ext cx="65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latin typeface="Do Hyeon"/>
                <a:ea typeface="Do Hyeon"/>
                <a:cs typeface="Do Hyeon"/>
                <a:sym typeface="Do Hyeon"/>
              </a:rPr>
              <a:t>✓ </a:t>
            </a:r>
            <a:r>
              <a:rPr lang="ko" sz="1700" b="1">
                <a:latin typeface="Malgun Gothic"/>
                <a:ea typeface="Malgun Gothic"/>
                <a:cs typeface="Malgun Gothic"/>
                <a:sym typeface="Malgun Gothic"/>
              </a:rPr>
              <a:t>Q&amp;A 가능한 시간이 언제이신지?</a:t>
            </a:r>
            <a:endParaRPr sz="17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F4350"/>
              </a:buClr>
              <a:buSzPts val="1300"/>
              <a:buFont typeface="Malgun Gothic"/>
              <a:buChar char="-"/>
            </a:pPr>
            <a:r>
              <a:rPr lang="ko" sz="1300">
                <a:solidFill>
                  <a:srgbClr val="3F435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질문을 정리해서 올리는 시간(예: 17시 ~ 18시 질문)</a:t>
            </a:r>
            <a:endParaRPr sz="13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1011825" y="2216650"/>
            <a:ext cx="6528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latin typeface="Do Hyeon"/>
                <a:ea typeface="Do Hyeon"/>
                <a:cs typeface="Do Hyeon"/>
                <a:sym typeface="Do Hyeon"/>
              </a:rPr>
              <a:t>✓ </a:t>
            </a:r>
            <a:r>
              <a:rPr lang="ko" sz="1700" b="1">
                <a:latin typeface="Malgun Gothic"/>
                <a:ea typeface="Malgun Gothic"/>
                <a:cs typeface="Malgun Gothic"/>
                <a:sym typeface="Malgun Gothic"/>
              </a:rPr>
              <a:t>Mentoring Tool </a:t>
            </a:r>
            <a:endParaRPr sz="17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algun Gothic"/>
              <a:buChar char="-"/>
            </a:pPr>
            <a:r>
              <a:rPr lang="ko" sz="1300">
                <a:latin typeface="Malgun Gothic"/>
                <a:ea typeface="Malgun Gothic"/>
                <a:cs typeface="Malgun Gothic"/>
                <a:sym typeface="Malgun Gothic"/>
              </a:rPr>
              <a:t>메신저 (ex. MM, 카카오톡, slack 등)</a:t>
            </a:r>
            <a:endParaRPr sz="13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algun Gothic"/>
              <a:buChar char="-"/>
            </a:pPr>
            <a:r>
              <a:rPr lang="ko" sz="1300">
                <a:latin typeface="Malgun Gothic"/>
                <a:ea typeface="Malgun Gothic"/>
                <a:cs typeface="Malgun Gothic"/>
                <a:sym typeface="Malgun Gothic"/>
              </a:rPr>
              <a:t>화상미팅 (</a:t>
            </a:r>
            <a:r>
              <a:rPr lang="ko" sz="1300">
                <a:solidFill>
                  <a:srgbClr val="3F4350"/>
                </a:solidFill>
                <a:latin typeface="Malgun Gothic"/>
                <a:ea typeface="Malgun Gothic"/>
                <a:cs typeface="Malgun Gothic"/>
                <a:sym typeface="Malgun Gothic"/>
              </a:rPr>
              <a:t>Knox미팅, Webex, GoogleMeet 등</a:t>
            </a:r>
            <a:r>
              <a:rPr lang="ko" sz="130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3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1080025" y="1209175"/>
            <a:ext cx="65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latin typeface="Malgun Gothic"/>
                <a:ea typeface="Malgun Gothic"/>
                <a:cs typeface="Malgun Gothic"/>
                <a:sym typeface="Malgun Gothic"/>
              </a:rPr>
              <a:t>✓ 멘토링 고정 요일</a:t>
            </a:r>
            <a:endParaRPr sz="17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3F4350"/>
              </a:buClr>
              <a:buSzPts val="1300"/>
              <a:buFont typeface="Malgun Gothic"/>
              <a:buChar char="-"/>
            </a:pPr>
            <a:r>
              <a:rPr lang="ko" sz="1300">
                <a:solidFill>
                  <a:srgbClr val="3F435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 1회 고정 요일/시간 (11시 이전, 2시 이후)</a:t>
            </a:r>
            <a:endParaRPr sz="13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08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/>
        </p:nvSpPr>
        <p:spPr>
          <a:xfrm>
            <a:off x="2642859" y="1867300"/>
            <a:ext cx="38583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2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i="1">
                <a:solidFill>
                  <a:srgbClr val="FFFFFF"/>
                </a:solidFill>
                <a:latin typeface="Do Hyeon"/>
                <a:ea typeface="Do Hyeon"/>
                <a:cs typeface="Do Hyeon"/>
                <a:sym typeface="Do Hyeon"/>
              </a:rPr>
              <a:t>Thank you</a:t>
            </a:r>
            <a:endParaRPr sz="2600" i="1">
              <a:solidFill>
                <a:srgbClr val="5ACDC6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3042294" y="1800624"/>
            <a:ext cx="254400" cy="254400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>
              <a:solidFill>
                <a:srgbClr val="0130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594</Words>
  <Application>Microsoft Office PowerPoint</Application>
  <PresentationFormat>화면 슬라이드 쇼(16:9)</PresentationFormat>
  <Paragraphs>155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Do Hyeon</vt:lpstr>
      <vt:lpstr>Malgun Gothic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2</cp:revision>
  <dcterms:modified xsi:type="dcterms:W3CDTF">2024-08-20T04:41:32Z</dcterms:modified>
</cp:coreProperties>
</file>