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  <p:sldMasterId id="2147483696" r:id="rId2"/>
  </p:sldMasterIdLst>
  <p:notesMasterIdLst>
    <p:notesMasterId r:id="rId27"/>
  </p:notesMasterIdLst>
  <p:handoutMasterIdLst>
    <p:handoutMasterId r:id="rId28"/>
  </p:handoutMasterIdLst>
  <p:sldIdLst>
    <p:sldId id="2500" r:id="rId3"/>
    <p:sldId id="2617" r:id="rId4"/>
    <p:sldId id="2614" r:id="rId5"/>
    <p:sldId id="839" r:id="rId6"/>
    <p:sldId id="2649" r:id="rId7"/>
    <p:sldId id="2648" r:id="rId8"/>
    <p:sldId id="2647" r:id="rId9"/>
    <p:sldId id="2632" r:id="rId10"/>
    <p:sldId id="2633" r:id="rId11"/>
    <p:sldId id="2650" r:id="rId12"/>
    <p:sldId id="2634" r:id="rId13"/>
    <p:sldId id="2651" r:id="rId14"/>
    <p:sldId id="2635" r:id="rId15"/>
    <p:sldId id="2642" r:id="rId16"/>
    <p:sldId id="2636" r:id="rId17"/>
    <p:sldId id="2637" r:id="rId18"/>
    <p:sldId id="2646" r:id="rId19"/>
    <p:sldId id="2645" r:id="rId20"/>
    <p:sldId id="2643" r:id="rId21"/>
    <p:sldId id="2638" r:id="rId22"/>
    <p:sldId id="2630" r:id="rId23"/>
    <p:sldId id="2639" r:id="rId24"/>
    <p:sldId id="2640" r:id="rId25"/>
    <p:sldId id="2641" r:id="rId26"/>
  </p:sldIdLst>
  <p:sldSz cx="12192000" cy="6858000"/>
  <p:notesSz cx="6858000" cy="9144000"/>
  <p:defaultTextStyle>
    <a:defPPr>
      <a:defRPr lang="ko-KR"/>
    </a:defPPr>
    <a:lvl1pPr marL="0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3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87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80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74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68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61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55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48" algn="l" defTabSz="91438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3" userDrawn="1">
          <p15:clr>
            <a:srgbClr val="A4A3A4"/>
          </p15:clr>
        </p15:guide>
        <p15:guide id="2" pos="38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C20"/>
    <a:srgbClr val="FFE1E1"/>
    <a:srgbClr val="FFCDCD"/>
    <a:srgbClr val="FF9393"/>
    <a:srgbClr val="FF4B4B"/>
    <a:srgbClr val="FF7171"/>
    <a:srgbClr val="FF4747"/>
    <a:srgbClr val="FFABAB"/>
    <a:srgbClr val="FF8181"/>
    <a:srgbClr val="FF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279" autoAdjust="0"/>
  </p:normalViewPr>
  <p:slideViewPr>
    <p:cSldViewPr snapToGrid="0" showGuides="1">
      <p:cViewPr varScale="1">
        <p:scale>
          <a:sx n="88" d="100"/>
          <a:sy n="88" d="100"/>
        </p:scale>
        <p:origin x="255" y="60"/>
      </p:cViewPr>
      <p:guideLst>
        <p:guide orient="horz" pos="2863"/>
        <p:guide pos="380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186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EFC88B9-FE8D-4528-9074-4EA8CC7CE5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68B087-34ED-4770-ADE4-1AD36E27D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90A7A-4E71-49B8-BCB2-DAB8E0087452}" type="datetimeFigureOut">
              <a:rPr lang="ko-KR" altLang="en-US" smtClean="0"/>
              <a:t>2024-08-13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0CBC41-95B9-44DA-9F3E-85063B1A71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A90191-0E64-4E6A-A63F-C90777E93A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E32CE-FFED-4CD0-9C37-51CF649FE0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4877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612E02F-983B-4EF7-98E0-2378BFF80D06}" type="datetimeFigureOut">
              <a:rPr lang="ko-KR" altLang="en-US" smtClean="0"/>
              <a:pPr/>
              <a:t>2024-08-13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D50E83A-0BAB-4DB2-800E-FAC1FEF58D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01863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87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193" algn="l" defTabSz="914387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387" algn="l" defTabSz="914387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580" algn="l" defTabSz="914387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774" algn="l" defTabSz="914387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5968" algn="l" defTabSz="91438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61" algn="l" defTabSz="91438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55" algn="l" defTabSz="91438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48" algn="l" defTabSz="91438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박사 논문심사 발표 시작하도록 하겠습니다</a:t>
            </a:r>
            <a:r>
              <a:rPr lang="en-US" altLang="ko-KR"/>
              <a:t>. </a:t>
            </a:r>
          </a:p>
          <a:p>
            <a:r>
              <a:rPr lang="ko-KR" altLang="en-US" sz="1200" b="0" i="0" kern="120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안녕하십니까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서울대학교 전기정보공학부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최진영 교수님 연구실에서 박사과정 중인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김선오입니다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저의 박사논문의 주제는 자연어를 활용하는 영상 구간 위치추정을 위한 긍정 및 부정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프로포절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학습입니다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기존에 표현력이 낮은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프로포절들을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개선하기 위해 효과적인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프로포절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학습법을 연구하였습니다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ko-KR" altLang="en-US" dirty="0"/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374125-6CA8-46E9-9FC3-55225CB6D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0E83A-0BAB-4DB2-800E-FAC1FEF58DA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556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0E83A-0BAB-4DB2-800E-FAC1FEF58DA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8608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연구분야소개와 기존 접근법의 문제</a:t>
            </a:r>
            <a:r>
              <a:rPr lang="en-US" altLang="ko-KR" dirty="0"/>
              <a:t>, </a:t>
            </a:r>
            <a:r>
              <a:rPr lang="ko-KR" altLang="en-US" dirty="0"/>
              <a:t>그리고 이를 해결하기 위한 저의 접근법에 대해 간단하게 소개를 먼저 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그리고나서 새롭게 제안하는 </a:t>
            </a:r>
            <a:r>
              <a:rPr lang="en-US" altLang="ko-KR" dirty="0"/>
              <a:t>Positive</a:t>
            </a:r>
            <a:r>
              <a:rPr lang="ko-KR" altLang="en-US" dirty="0"/>
              <a:t> </a:t>
            </a:r>
            <a:r>
              <a:rPr lang="ko-KR" altLang="en-US" dirty="0" err="1"/>
              <a:t>프로포절과</a:t>
            </a:r>
            <a:r>
              <a:rPr lang="ko-KR" altLang="en-US" dirty="0"/>
              <a:t> </a:t>
            </a:r>
            <a:r>
              <a:rPr lang="en-US" altLang="ko-KR" dirty="0"/>
              <a:t>Negative</a:t>
            </a:r>
            <a:r>
              <a:rPr lang="ko-KR" altLang="en-US" dirty="0"/>
              <a:t> </a:t>
            </a:r>
            <a:r>
              <a:rPr lang="ko-KR" altLang="en-US" dirty="0" err="1"/>
              <a:t>프로포절</a:t>
            </a:r>
            <a:r>
              <a:rPr lang="ko-KR" altLang="en-US" dirty="0"/>
              <a:t> 학습법에 대해 다루도록 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14C4D-9921-473A-8FC8-E8EDFD268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0E83A-0BAB-4DB2-800E-FAC1FEF58DA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7637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404">
            <a:extLst>
              <a:ext uri="{FF2B5EF4-FFF2-40B4-BE49-F238E27FC236}">
                <a16:creationId xmlns:a16="http://schemas.microsoft.com/office/drawing/2014/main" id="{08A6A31E-179F-4830-9ECE-867859222359}"/>
              </a:ext>
            </a:extLst>
          </p:cNvPr>
          <p:cNvSpPr/>
          <p:nvPr userDrawn="1"/>
        </p:nvSpPr>
        <p:spPr>
          <a:xfrm flipV="1">
            <a:off x="0" y="6051884"/>
            <a:ext cx="12191852" cy="80611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BD1241F8-9292-40E8-813D-C1F58C12F19C}"/>
              </a:ext>
            </a:extLst>
          </p:cNvPr>
          <p:cNvGrpSpPr/>
          <p:nvPr userDrawn="1"/>
        </p:nvGrpSpPr>
        <p:grpSpPr>
          <a:xfrm flipH="1">
            <a:off x="80343" y="70812"/>
            <a:ext cx="11900167" cy="1185653"/>
            <a:chOff x="2418478" y="1572516"/>
            <a:chExt cx="4355033" cy="3770601"/>
          </a:xfrm>
        </p:grpSpPr>
        <p:sp>
          <p:nvSpPr>
            <p:cNvPr id="6" name="Isosceles Triangle 45">
              <a:extLst>
                <a:ext uri="{FF2B5EF4-FFF2-40B4-BE49-F238E27FC236}">
                  <a16:creationId xmlns:a16="http://schemas.microsoft.com/office/drawing/2014/main" id="{9379C6AE-E5FB-42FB-A6C3-678CAEC7AC52}"/>
                </a:ext>
              </a:extLst>
            </p:cNvPr>
            <p:cNvSpPr/>
            <p:nvPr/>
          </p:nvSpPr>
          <p:spPr>
            <a:xfrm rot="21409910">
              <a:off x="2418478" y="1572516"/>
              <a:ext cx="4307042" cy="3712968"/>
            </a:xfrm>
            <a:prstGeom prst="triangle">
              <a:avLst/>
            </a:prstGeom>
            <a:noFill/>
            <a:ln w="3175">
              <a:solidFill>
                <a:srgbClr val="2626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54" dirty="0">
                <a:latin typeface="맑은 고딕" panose="020B0503020000020004" pitchFamily="50" charset="-127"/>
              </a:endParaRPr>
            </a:p>
          </p:txBody>
        </p:sp>
        <p:sp>
          <p:nvSpPr>
            <p:cNvPr id="7" name="Isosceles Triangle 47">
              <a:extLst>
                <a:ext uri="{FF2B5EF4-FFF2-40B4-BE49-F238E27FC236}">
                  <a16:creationId xmlns:a16="http://schemas.microsoft.com/office/drawing/2014/main" id="{6C38B1E0-63C1-42F7-9B64-8855B23A1F7C}"/>
                </a:ext>
              </a:extLst>
            </p:cNvPr>
            <p:cNvSpPr/>
            <p:nvPr userDrawn="1"/>
          </p:nvSpPr>
          <p:spPr>
            <a:xfrm rot="407312">
              <a:off x="2466469" y="1630149"/>
              <a:ext cx="4307042" cy="3712968"/>
            </a:xfrm>
            <a:prstGeom prst="triangle">
              <a:avLst/>
            </a:prstGeom>
            <a:noFill/>
            <a:ln w="3175">
              <a:solidFill>
                <a:srgbClr val="26262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54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8" name="Rectangle 4">
            <a:extLst>
              <a:ext uri="{FF2B5EF4-FFF2-40B4-BE49-F238E27FC236}">
                <a16:creationId xmlns:a16="http://schemas.microsoft.com/office/drawing/2014/main" id="{92A47DBB-0B2C-49D3-ACE6-010B6B240B6A}"/>
              </a:ext>
            </a:extLst>
          </p:cNvPr>
          <p:cNvSpPr/>
          <p:nvPr userDrawn="1"/>
        </p:nvSpPr>
        <p:spPr>
          <a:xfrm>
            <a:off x="4728636" y="3787655"/>
            <a:ext cx="2734709" cy="8332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54" dirty="0"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1A934D-FD70-4676-AC80-AC934D82AED5}"/>
              </a:ext>
            </a:extLst>
          </p:cNvPr>
          <p:cNvSpPr txBox="1"/>
          <p:nvPr userDrawn="1"/>
        </p:nvSpPr>
        <p:spPr>
          <a:xfrm>
            <a:off x="120292" y="6115504"/>
            <a:ext cx="618907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1100" dirty="0">
                <a:solidFill>
                  <a:schemeClr val="bg1"/>
                </a:solidFill>
                <a:latin typeface="맑은 고딕" panose="020B0503020000020004" pitchFamily="50" charset="-127"/>
                <a:ea typeface="+mn-ea"/>
                <a:cs typeface="KoreanNGDL" charset="-127"/>
              </a:rPr>
              <a:t>Language AI Team</a:t>
            </a:r>
            <a:r>
              <a:rPr lang="en-US" altLang="ko-KR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reanNGDL" charset="-127"/>
              </a:rPr>
              <a:t>,</a:t>
            </a:r>
          </a:p>
          <a:p>
            <a:pPr>
              <a:lnSpc>
                <a:spcPct val="100000"/>
              </a:lnSpc>
            </a:pPr>
            <a:r>
              <a:rPr lang="en-US" altLang="ko-KR" sz="110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reanNGDL" charset="-127"/>
              </a:rPr>
              <a:t>Mobile </a:t>
            </a:r>
            <a:r>
              <a:rPr lang="en-US" altLang="ko-KR" sz="1100" baseline="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reanNGDL" charset="-127"/>
              </a:rPr>
              <a:t>eXperience</a:t>
            </a:r>
            <a:r>
              <a:rPr lang="en-US" altLang="ko-KR" sz="110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reanNGDL" charset="-127"/>
              </a:rPr>
              <a:t>, Samsung Electronics,</a:t>
            </a:r>
          </a:p>
          <a:p>
            <a:pPr>
              <a:lnSpc>
                <a:spcPct val="100000"/>
              </a:lnSpc>
            </a:pPr>
            <a:r>
              <a:rPr lang="en-US" altLang="ko-KR" sz="1100" baseline="0" dirty="0">
                <a:solidFill>
                  <a:schemeClr val="bg1"/>
                </a:solidFill>
                <a:latin typeface="맑은 고딕" panose="020B0503020000020004" pitchFamily="50" charset="-127"/>
                <a:ea typeface="+mn-ea"/>
                <a:cs typeface="KoreanNGDL" charset="-127"/>
              </a:rPr>
              <a:t>Suwon-</a:t>
            </a:r>
            <a:r>
              <a:rPr lang="en-US" altLang="ko-KR" sz="1100" baseline="0" dirty="0" err="1">
                <a:solidFill>
                  <a:schemeClr val="bg1"/>
                </a:solidFill>
                <a:latin typeface="맑은 고딕" panose="020B0503020000020004" pitchFamily="50" charset="-127"/>
                <a:ea typeface="+mn-ea"/>
                <a:cs typeface="KoreanNGDL" charset="-127"/>
              </a:rPr>
              <a:t>si</a:t>
            </a:r>
            <a:r>
              <a:rPr lang="en-US" altLang="ko-KR" sz="1100" baseline="0" dirty="0">
                <a:solidFill>
                  <a:schemeClr val="bg1"/>
                </a:solidFill>
                <a:latin typeface="맑은 고딕" panose="020B0503020000020004" pitchFamily="50" charset="-127"/>
                <a:ea typeface="+mn-ea"/>
                <a:cs typeface="KoreanNGDL" charset="-127"/>
              </a:rPr>
              <a:t>, Gyeonggi-do, Republic of Korea</a:t>
            </a:r>
            <a:endParaRPr lang="ko-KR" alt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reanNGDL" charset="-127"/>
            </a:endParaRPr>
          </a:p>
        </p:txBody>
      </p:sp>
      <p:pic>
        <p:nvPicPr>
          <p:cNvPr id="4" name="그림 3" descr="블랙, 어둠이(가) 표시된 사진&#10;&#10;자동 생성된 설명">
            <a:extLst>
              <a:ext uri="{FF2B5EF4-FFF2-40B4-BE49-F238E27FC236}">
                <a16:creationId xmlns:a16="http://schemas.microsoft.com/office/drawing/2014/main" id="{40F3F8FC-8177-06E9-42E3-7839594C59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39" b="41639"/>
          <a:stretch/>
        </p:blipFill>
        <p:spPr>
          <a:xfrm>
            <a:off x="10024217" y="6247090"/>
            <a:ext cx="1966648" cy="32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6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34">
            <a:extLst>
              <a:ext uri="{FF2B5EF4-FFF2-40B4-BE49-F238E27FC236}">
                <a16:creationId xmlns:a16="http://schemas.microsoft.com/office/drawing/2014/main" id="{64F114B5-BF08-46FB-880A-2EB8C212F8E7}"/>
              </a:ext>
            </a:extLst>
          </p:cNvPr>
          <p:cNvSpPr/>
          <p:nvPr userDrawn="1"/>
        </p:nvSpPr>
        <p:spPr>
          <a:xfrm>
            <a:off x="1" y="0"/>
            <a:ext cx="4868173" cy="6858000"/>
          </a:xfrm>
          <a:custGeom>
            <a:avLst/>
            <a:gdLst>
              <a:gd name="connsiteX0" fmla="*/ 0 w 4868173"/>
              <a:gd name="connsiteY0" fmla="*/ 0 h 6858000"/>
              <a:gd name="connsiteX1" fmla="*/ 4868173 w 4868173"/>
              <a:gd name="connsiteY1" fmla="*/ 0 h 6858000"/>
              <a:gd name="connsiteX2" fmla="*/ 2126832 w 4868173"/>
              <a:gd name="connsiteY2" fmla="*/ 6858000 h 6858000"/>
              <a:gd name="connsiteX3" fmla="*/ 0 w 486817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68173" h="6858000">
                <a:moveTo>
                  <a:pt x="0" y="0"/>
                </a:moveTo>
                <a:lnTo>
                  <a:pt x="4868173" y="0"/>
                </a:lnTo>
                <a:lnTo>
                  <a:pt x="212683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722">
            <a:extLst>
              <a:ext uri="{FF2B5EF4-FFF2-40B4-BE49-F238E27FC236}">
                <a16:creationId xmlns:a16="http://schemas.microsoft.com/office/drawing/2014/main" id="{08DAAE6F-835C-44D8-A927-AA56CC07EDA3}"/>
              </a:ext>
            </a:extLst>
          </p:cNvPr>
          <p:cNvCxnSpPr>
            <a:cxnSpLocks/>
          </p:cNvCxnSpPr>
          <p:nvPr userDrawn="1"/>
        </p:nvCxnSpPr>
        <p:spPr>
          <a:xfrm flipH="1">
            <a:off x="1797103" y="4140745"/>
            <a:ext cx="1001829" cy="2528035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723">
            <a:extLst>
              <a:ext uri="{FF2B5EF4-FFF2-40B4-BE49-F238E27FC236}">
                <a16:creationId xmlns:a16="http://schemas.microsoft.com/office/drawing/2014/main" id="{9F276600-9B9D-4CAF-B10B-041D668C0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3342" y="4920916"/>
            <a:ext cx="679417" cy="1714456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464A061-4D0C-4603-9DE2-0D5C5BC3E7BF}"/>
              </a:ext>
            </a:extLst>
          </p:cNvPr>
          <p:cNvSpPr txBox="1"/>
          <p:nvPr userDrawn="1"/>
        </p:nvSpPr>
        <p:spPr>
          <a:xfrm>
            <a:off x="224495" y="1255498"/>
            <a:ext cx="351732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dirty="0">
                <a:solidFill>
                  <a:srgbClr val="262626"/>
                </a:solidFill>
                <a:cs typeface="Calibri" panose="020F0502020204030204" pitchFamily="34" charset="0"/>
              </a:rPr>
              <a:t>Contents</a:t>
            </a:r>
            <a:endParaRPr lang="ko-KR" altLang="en-US" sz="4800" dirty="0">
              <a:solidFill>
                <a:srgbClr val="262626"/>
              </a:solidFill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9253A7-23CC-453F-8BEB-360A01B9EC17}"/>
              </a:ext>
            </a:extLst>
          </p:cNvPr>
          <p:cNvSpPr txBox="1"/>
          <p:nvPr userDrawn="1"/>
        </p:nvSpPr>
        <p:spPr>
          <a:xfrm>
            <a:off x="76203" y="23814"/>
            <a:ext cx="457199" cy="77777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endParaRPr lang="ko-KR" altLang="en-US" sz="4454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Straight Connector 56">
            <a:extLst>
              <a:ext uri="{FF2B5EF4-FFF2-40B4-BE49-F238E27FC236}">
                <a16:creationId xmlns:a16="http://schemas.microsoft.com/office/drawing/2014/main" id="{3AEFA7AC-34B4-45A5-BE3F-7C686A56B49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45789" y="4140745"/>
            <a:ext cx="1001829" cy="2528035"/>
          </a:xfrm>
          <a:prstGeom prst="line">
            <a:avLst/>
          </a:prstGeom>
          <a:ln w="76200" cap="rnd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727">
            <a:extLst>
              <a:ext uri="{FF2B5EF4-FFF2-40B4-BE49-F238E27FC236}">
                <a16:creationId xmlns:a16="http://schemas.microsoft.com/office/drawing/2014/main" id="{B394B36D-783E-4560-94FB-5F422257D67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604895" y="5230026"/>
            <a:ext cx="575020" cy="1451018"/>
          </a:xfrm>
          <a:prstGeom prst="line">
            <a:avLst/>
          </a:prstGeom>
          <a:ln w="76200" cap="rnd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725">
            <a:extLst>
              <a:ext uri="{FF2B5EF4-FFF2-40B4-BE49-F238E27FC236}">
                <a16:creationId xmlns:a16="http://schemas.microsoft.com/office/drawing/2014/main" id="{651915D1-9D71-4DBF-A0E7-F7F093CBD117}"/>
              </a:ext>
            </a:extLst>
          </p:cNvPr>
          <p:cNvCxnSpPr>
            <a:cxnSpLocks/>
          </p:cNvCxnSpPr>
          <p:nvPr userDrawn="1"/>
        </p:nvCxnSpPr>
        <p:spPr>
          <a:xfrm flipH="1">
            <a:off x="972424" y="5607124"/>
            <a:ext cx="402446" cy="1015544"/>
          </a:xfrm>
          <a:prstGeom prst="line">
            <a:avLst/>
          </a:prstGeom>
          <a:ln w="762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17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44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16214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98362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42373"/>
            <a:ext cx="111776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marR="0" lvl="0" indent="-571500" algn="l" defTabSz="91438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Proposed Method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Gaussian Mixture with Pull-Push Learning Scheme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81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42373"/>
            <a:ext cx="111776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marR="0" lvl="0" indent="-571500" algn="l" defTabSz="91438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Proposed Method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Gaussian Mixture with Pull-Push Learning Scheme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00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42373"/>
            <a:ext cx="117872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marR="0" lvl="0" indent="-571500" algn="l" defTabSz="91438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Learning Negative Proposal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Dual-Signed Cross-Entropy Loss for Easy to Hard Negative </a:t>
            </a:r>
          </a:p>
          <a:p>
            <a:pPr marL="571500" marR="0" lvl="0" indent="-571500" algn="l" defTabSz="91438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7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42373"/>
            <a:ext cx="114575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marR="0" lvl="0" indent="-571500" algn="l" defTabSz="91438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Learning Negative Proposal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Dual-Signed Cross-Entropy Loss for Easy to Hard Negative </a:t>
            </a:r>
          </a:p>
        </p:txBody>
      </p:sp>
    </p:spTree>
    <p:extLst>
      <p:ext uri="{BB962C8B-B14F-4D97-AF65-F5344CB8AC3E}">
        <p14:creationId xmlns:p14="http://schemas.microsoft.com/office/powerpoint/2010/main" val="128958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3445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318659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Experiments</a:t>
            </a:r>
          </a:p>
        </p:txBody>
      </p:sp>
    </p:spTree>
    <p:extLst>
      <p:ext uri="{BB962C8B-B14F-4D97-AF65-F5344CB8AC3E}">
        <p14:creationId xmlns:p14="http://schemas.microsoft.com/office/powerpoint/2010/main" val="223203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E49B14-86B2-452C-841D-43EC240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424C9-A179-48B5-9B73-851383A6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BFFB5-D022-455F-9C81-6DC0CCD5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Rectangle 373">
            <a:extLst>
              <a:ext uri="{FF2B5EF4-FFF2-40B4-BE49-F238E27FC236}">
                <a16:creationId xmlns:a16="http://schemas.microsoft.com/office/drawing/2014/main" id="{50B1DF0D-D44D-41B2-B838-F2B55AE8591E}"/>
              </a:ext>
            </a:extLst>
          </p:cNvPr>
          <p:cNvSpPr/>
          <p:nvPr userDrawn="1"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Experiments</a:t>
            </a:r>
          </a:p>
        </p:txBody>
      </p:sp>
    </p:spTree>
    <p:extLst>
      <p:ext uri="{BB962C8B-B14F-4D97-AF65-F5344CB8AC3E}">
        <p14:creationId xmlns:p14="http://schemas.microsoft.com/office/powerpoint/2010/main" val="2360841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919EF6-B417-4451-B188-C2C0ABEF2C95}"/>
              </a:ext>
            </a:extLst>
          </p:cNvPr>
          <p:cNvSpPr/>
          <p:nvPr userDrawn="1"/>
        </p:nvSpPr>
        <p:spPr>
          <a:xfrm>
            <a:off x="0" y="0"/>
            <a:ext cx="2322095" cy="68580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57923-A0DE-46FE-BBC8-57B9510D394B}"/>
              </a:ext>
            </a:extLst>
          </p:cNvPr>
          <p:cNvSpPr txBox="1"/>
          <p:nvPr userDrawn="1"/>
        </p:nvSpPr>
        <p:spPr>
          <a:xfrm>
            <a:off x="188399" y="1037676"/>
            <a:ext cx="351732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dirty="0">
                <a:solidFill>
                  <a:srgbClr val="262626"/>
                </a:solidFill>
                <a:cs typeface="Calibri" panose="020F0502020204030204" pitchFamily="34" charset="0"/>
              </a:rPr>
              <a:t>Research</a:t>
            </a:r>
            <a:endParaRPr lang="ko-KR" altLang="en-US" sz="2800" dirty="0">
              <a:solidFill>
                <a:srgbClr val="262626"/>
              </a:solidFill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CF291-E914-47A1-9E07-2183A941A8E7}"/>
              </a:ext>
            </a:extLst>
          </p:cNvPr>
          <p:cNvSpPr txBox="1"/>
          <p:nvPr userDrawn="1"/>
        </p:nvSpPr>
        <p:spPr>
          <a:xfrm>
            <a:off x="188399" y="1423859"/>
            <a:ext cx="351732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dirty="0">
                <a:solidFill>
                  <a:srgbClr val="262626"/>
                </a:solidFill>
                <a:cs typeface="Calibri" panose="020F0502020204030204" pitchFamily="34" charset="0"/>
              </a:rPr>
              <a:t>Plan</a:t>
            </a:r>
            <a:endParaRPr lang="ko-KR" altLang="en-US" sz="2800" dirty="0">
              <a:solidFill>
                <a:srgbClr val="262626"/>
              </a:solidFill>
              <a:cs typeface="Calibri" panose="020F050202020403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C37A45-9382-4BD7-A4B2-FA5EB7D2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D1579D-D7A8-4303-B4D5-ACB33798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D7CC3-8CBC-403E-B17C-0FDAF0E9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62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3FA7E8-0C1E-40C3-904B-5188E59E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0A57F1-AB6D-491A-BC7A-F957A4C4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27A9C8-C4F9-4187-BC04-23D4E627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2699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691C40-340A-44BC-A6B3-C3A20A9ED913}"/>
              </a:ext>
            </a:extLst>
          </p:cNvPr>
          <p:cNvSpPr txBox="1"/>
          <p:nvPr userDrawn="1"/>
        </p:nvSpPr>
        <p:spPr>
          <a:xfrm>
            <a:off x="0" y="4136903"/>
            <a:ext cx="12192000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5867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20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691C40-340A-44BC-A6B3-C3A20A9ED913}"/>
              </a:ext>
            </a:extLst>
          </p:cNvPr>
          <p:cNvSpPr txBox="1"/>
          <p:nvPr userDrawn="1"/>
        </p:nvSpPr>
        <p:spPr>
          <a:xfrm>
            <a:off x="0" y="4136903"/>
            <a:ext cx="12192000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  <a:endParaRPr lang="ko-KR" altLang="en-US" sz="5867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88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AC0439A-326B-4073-BECB-78169A003E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001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09" r:id="rId2"/>
    <p:sldLayoutId id="2147483711" r:id="rId3"/>
    <p:sldLayoutId id="2147483718" r:id="rId4"/>
    <p:sldLayoutId id="2147483723" r:id="rId5"/>
    <p:sldLayoutId id="2147483719" r:id="rId6"/>
    <p:sldLayoutId id="2147483721" r:id="rId7"/>
    <p:sldLayoutId id="2147483720" r:id="rId8"/>
    <p:sldLayoutId id="2147483722" r:id="rId9"/>
    <p:sldLayoutId id="2147483724" r:id="rId10"/>
    <p:sldLayoutId id="2147483725" r:id="rId11"/>
    <p:sldLayoutId id="2147483728" r:id="rId12"/>
    <p:sldLayoutId id="2147483729" r:id="rId13"/>
    <p:sldLayoutId id="2147483712" r:id="rId14"/>
    <p:sldLayoutId id="2147483714" r:id="rId15"/>
    <p:sldLayoutId id="2147483713" r:id="rId16"/>
    <p:sldLayoutId id="2147483727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3296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4C87D4-D71A-4B95-BD69-1EAE5C789435}"/>
              </a:ext>
            </a:extLst>
          </p:cNvPr>
          <p:cNvSpPr txBox="1"/>
          <p:nvPr/>
        </p:nvSpPr>
        <p:spPr>
          <a:xfrm>
            <a:off x="1681316" y="3925218"/>
            <a:ext cx="8829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rgbClr val="262626"/>
                </a:solidFill>
              </a:rPr>
              <a:t>Presenter</a:t>
            </a:r>
            <a:r>
              <a:rPr lang="en-US" altLang="ko-KR" sz="2000" dirty="0" smtClean="0">
                <a:solidFill>
                  <a:srgbClr val="262626"/>
                </a:solidFill>
              </a:rPr>
              <a:t>: </a:t>
            </a:r>
            <a:r>
              <a:rPr lang="en-US" altLang="ko-KR" sz="2000" dirty="0">
                <a:solidFill>
                  <a:srgbClr val="262626"/>
                </a:solidFill>
              </a:rPr>
              <a:t>Sunoh Kim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9EEA2-90ED-4E8C-8731-65A50B0B8243}"/>
              </a:ext>
            </a:extLst>
          </p:cNvPr>
          <p:cNvSpPr txBox="1"/>
          <p:nvPr/>
        </p:nvSpPr>
        <p:spPr>
          <a:xfrm>
            <a:off x="2061713" y="2625676"/>
            <a:ext cx="8068574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이미지</a:t>
            </a:r>
            <a:r>
              <a:rPr lang="en-US" altLang="ko-KR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-</a:t>
            </a:r>
            <a:r>
              <a:rPr lang="ko-KR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텍스트 </a:t>
            </a:r>
            <a:r>
              <a:rPr lang="ko-KR" altLang="en-US" sz="28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컷믹스</a:t>
            </a:r>
            <a:r>
              <a:rPr lang="ko-KR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증강 기법을 통해 </a:t>
            </a:r>
            <a:endParaRPr lang="en-US" altLang="ko-KR" sz="2800" b="1" dirty="0" smtClean="0">
              <a:solidFill>
                <a:schemeClr val="tx1">
                  <a:lumMod val="85000"/>
                  <a:lumOff val="15000"/>
                </a:schemeClr>
              </a:solidFill>
              <a:cs typeface="Calibri" panose="020F0502020204030204" pitchFamily="34" charset="0"/>
            </a:endParaRPr>
          </a:p>
          <a:p>
            <a:pPr algn="ctr"/>
            <a:r>
              <a:rPr lang="ko-KR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개선된 시각 언어 모델 개발</a:t>
            </a:r>
            <a:endParaRPr lang="en-US" altLang="ko-KR" sz="2800" b="1" dirty="0">
              <a:solidFill>
                <a:schemeClr val="tx1">
                  <a:lumMod val="85000"/>
                  <a:lumOff val="15000"/>
                </a:schemeClr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48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en-US" altLang="ko-KR" sz="3200" dirty="0">
              <a:solidFill>
                <a:srgbClr val="262626"/>
              </a:solidFill>
            </a:endParaRPr>
          </a:p>
        </p:txBody>
      </p:sp>
      <p:pic>
        <p:nvPicPr>
          <p:cNvPr id="2" name="그림 1" descr="의류, 텍스트, 사람, 실내이(가) 표시된 사진&#10;&#10;자동 생성된 설명">
            <a:extLst>
              <a:ext uri="{FF2B5EF4-FFF2-40B4-BE49-F238E27FC236}">
                <a16:creationId xmlns:a16="http://schemas.microsoft.com/office/drawing/2014/main" id="{3A753036-C81A-EBC4-2140-4447D31094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12" t="34599" r="12118" b="543"/>
          <a:stretch/>
        </p:blipFill>
        <p:spPr>
          <a:xfrm>
            <a:off x="760050" y="1001072"/>
            <a:ext cx="2044412" cy="32639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8A59A1-CD5F-EC86-371F-44CB5C980388}"/>
              </a:ext>
            </a:extLst>
          </p:cNvPr>
          <p:cNvSpPr txBox="1"/>
          <p:nvPr/>
        </p:nvSpPr>
        <p:spPr>
          <a:xfrm>
            <a:off x="3082355" y="906905"/>
            <a:ext cx="5153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62626"/>
                </a:solidFill>
              </a:rPr>
              <a:t>Sunoh Kim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B7397-B6AC-E20D-B4AD-962D8748A375}"/>
              </a:ext>
            </a:extLst>
          </p:cNvPr>
          <p:cNvSpPr txBox="1"/>
          <p:nvPr/>
        </p:nvSpPr>
        <p:spPr>
          <a:xfrm>
            <a:off x="3082355" y="1359230"/>
            <a:ext cx="5846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 am interested in deep learning and multimodal learning, especially using video and natural language.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61C05-64E1-5C00-A3BF-D32054A71218}"/>
              </a:ext>
            </a:extLst>
          </p:cNvPr>
          <p:cNvSpPr txBox="1"/>
          <p:nvPr/>
        </p:nvSpPr>
        <p:spPr>
          <a:xfrm>
            <a:off x="3082354" y="2498169"/>
            <a:ext cx="8271446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Under review] </a:t>
            </a:r>
            <a:r>
              <a:rPr lang="en-US" altLang="ko-KR" sz="1300" dirty="0" err="1"/>
              <a:t>Daeho</a:t>
            </a:r>
            <a:r>
              <a:rPr lang="en-US" altLang="ko-KR" sz="1300" dirty="0"/>
              <a:t> Um, </a:t>
            </a:r>
            <a:r>
              <a:rPr lang="en-US" altLang="ko-KR" sz="1300" b="1" dirty="0"/>
              <a:t>Sunoh Kim</a:t>
            </a:r>
            <a:r>
              <a:rPr lang="en-US" altLang="ko-KR" sz="1300" dirty="0"/>
              <a:t>, </a:t>
            </a:r>
            <a:r>
              <a:rPr lang="en-US" altLang="ko-KR" sz="1300" dirty="0" err="1"/>
              <a:t>Jiwoong</a:t>
            </a:r>
            <a:r>
              <a:rPr lang="en-US" altLang="ko-KR" sz="1300" dirty="0"/>
              <a:t> Park, </a:t>
            </a:r>
            <a:r>
              <a:rPr lang="en-US" altLang="ko-KR" sz="1300" dirty="0" err="1"/>
              <a:t>Jongin</a:t>
            </a:r>
            <a:r>
              <a:rPr lang="en-US" altLang="ko-KR" sz="1300" dirty="0"/>
              <a:t> Lim, </a:t>
            </a:r>
            <a:r>
              <a:rPr lang="en-US" altLang="ko-KR" sz="1300" dirty="0" err="1"/>
              <a:t>Seulki</a:t>
            </a:r>
            <a:r>
              <a:rPr lang="en-US" altLang="ko-KR" sz="1300" dirty="0"/>
              <a:t> Park, </a:t>
            </a:r>
            <a:r>
              <a:rPr lang="en-US" altLang="ko-KR" sz="1300" dirty="0" err="1"/>
              <a:t>Jin</a:t>
            </a:r>
            <a:r>
              <a:rPr lang="en-US" altLang="ko-KR" sz="1300" dirty="0"/>
              <a:t> Young Choi, “Diffusion with Synthetic Features: Feature Imputation for Graphs with Partially Observed Features”, 2024.</a:t>
            </a:r>
          </a:p>
          <a:p>
            <a:pPr algn="just"/>
            <a:r>
              <a:rPr lang="en-US" altLang="ko-KR" sz="700" dirty="0"/>
              <a:t> 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[Under review] </a:t>
            </a:r>
            <a:r>
              <a:rPr lang="en-US" altLang="ko-KR" sz="1300" dirty="0" err="1"/>
              <a:t>Daeho</a:t>
            </a:r>
            <a:r>
              <a:rPr lang="en-US" altLang="ko-KR" sz="1300" dirty="0"/>
              <a:t> Um, </a:t>
            </a:r>
            <a:r>
              <a:rPr lang="en-US" altLang="ko-KR" sz="1300" dirty="0" err="1"/>
              <a:t>Jongin</a:t>
            </a:r>
            <a:r>
              <a:rPr lang="en-US" altLang="ko-KR" sz="1300" dirty="0"/>
              <a:t> Lim, </a:t>
            </a:r>
            <a:r>
              <a:rPr lang="en-US" altLang="ko-KR" sz="1300" b="1" dirty="0"/>
              <a:t>Sunoh Kim</a:t>
            </a:r>
            <a:r>
              <a:rPr lang="en-US" altLang="ko-KR" sz="1300" dirty="0"/>
              <a:t>, </a:t>
            </a:r>
            <a:r>
              <a:rPr lang="en-US" altLang="ko-KR" sz="1300" dirty="0" err="1"/>
              <a:t>Yuneil</a:t>
            </a:r>
            <a:r>
              <a:rPr lang="en-US" altLang="ko-KR" sz="1300" dirty="0"/>
              <a:t> Yeo, </a:t>
            </a:r>
            <a:r>
              <a:rPr lang="en-US" altLang="ko-KR" sz="1300" dirty="0" err="1"/>
              <a:t>Yoonho</a:t>
            </a:r>
            <a:r>
              <a:rPr lang="en-US" altLang="ko-KR" sz="1300" dirty="0"/>
              <a:t> Jung, </a:t>
            </a:r>
            <a:r>
              <a:rPr lang="en-US" altLang="ko-KR" sz="1300" dirty="0" err="1"/>
              <a:t>Jin</a:t>
            </a:r>
            <a:r>
              <a:rPr lang="en-US" altLang="ko-KR" sz="1300" dirty="0"/>
              <a:t> Young Choi, “Spreading Out-of-Distribution Detection on Graphs”, 2024. </a:t>
            </a:r>
            <a:endParaRPr lang="en-US" altLang="ko-KR" sz="1300" b="1" dirty="0"/>
          </a:p>
          <a:p>
            <a:pPr algn="just"/>
            <a:r>
              <a:rPr lang="en-US" altLang="ko-KR" sz="800" dirty="0" smtClean="0"/>
              <a:t> </a:t>
            </a:r>
            <a:endParaRPr lang="en-US" altLang="ko-KR" sz="1300" b="1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1300" b="1" i="0" dirty="0" smtClean="0">
                <a:effectLst/>
              </a:rPr>
              <a:t>Sunoh </a:t>
            </a:r>
            <a:r>
              <a:rPr lang="en-US" altLang="ko-KR" sz="1300" b="1" i="0" dirty="0">
                <a:effectLst/>
              </a:rPr>
              <a:t>Kim</a:t>
            </a:r>
            <a:r>
              <a:rPr lang="en-US" altLang="ko-KR" sz="1300" b="0" i="0" dirty="0">
                <a:effectLst/>
              </a:rPr>
              <a:t>, </a:t>
            </a:r>
            <a:r>
              <a:rPr lang="en-US" altLang="ko-KR" sz="1300" b="0" i="0" dirty="0" err="1">
                <a:effectLst/>
              </a:rPr>
              <a:t>Daeho</a:t>
            </a:r>
            <a:r>
              <a:rPr lang="en-US" altLang="ko-KR" sz="1300" b="0" i="0" dirty="0">
                <a:effectLst/>
              </a:rPr>
              <a:t> Um, Hyun Jun Choi, Jin Young Choi, “Learnable Negative Proposals Using Dual-Signed Cross-Entropy Loss for Weakly Supervised Video Moment Localization”, </a:t>
            </a:r>
            <a:r>
              <a:rPr lang="en-US" altLang="ko-KR" sz="1300" dirty="0"/>
              <a:t>ACM International Conference on </a:t>
            </a:r>
            <a:r>
              <a:rPr lang="en-US" altLang="ko-KR" sz="1300" dirty="0" smtClean="0"/>
              <a:t>Multimedia, 2024</a:t>
            </a:r>
            <a:r>
              <a:rPr lang="en-US" altLang="ko-KR" sz="1300" b="0" i="0" dirty="0">
                <a:effectLst/>
              </a:rPr>
              <a:t>.</a:t>
            </a:r>
          </a:p>
          <a:p>
            <a:pPr algn="just" rtl="0"/>
            <a:r>
              <a:rPr lang="en-US" altLang="ko-KR" sz="700" dirty="0"/>
              <a:t> </a:t>
            </a:r>
            <a:r>
              <a:rPr lang="en-US" altLang="ko-KR" sz="700" b="0" i="0" dirty="0" smtClean="0">
                <a:effectLst/>
              </a:rPr>
              <a:t> </a:t>
            </a:r>
            <a:endParaRPr lang="en-US" altLang="ko-KR" sz="700" b="0" i="0" dirty="0">
              <a:effectLst/>
            </a:endParaRPr>
          </a:p>
          <a:p>
            <a:pPr marL="171450" indent="-171450" algn="just" rtl="0">
              <a:buFont typeface="Arial" panose="020B0604020202020204" pitchFamily="34" charset="0"/>
              <a:buChar char="•"/>
            </a:pPr>
            <a:r>
              <a:rPr lang="en-US" altLang="ko-KR" sz="1300" b="1" i="0" dirty="0" smtClean="0">
                <a:effectLst/>
              </a:rPr>
              <a:t>Sunoh </a:t>
            </a:r>
            <a:r>
              <a:rPr lang="en-US" altLang="ko-KR" sz="1300" b="1" i="0" dirty="0">
                <a:effectLst/>
              </a:rPr>
              <a:t>Kim</a:t>
            </a:r>
            <a:r>
              <a:rPr lang="en-US" altLang="ko-KR" sz="1300" b="0" i="0" dirty="0">
                <a:effectLst/>
              </a:rPr>
              <a:t>, </a:t>
            </a:r>
            <a:r>
              <a:rPr lang="en-US" altLang="ko-KR" sz="1300" b="0" i="0" dirty="0" err="1">
                <a:effectLst/>
              </a:rPr>
              <a:t>Jungchan</a:t>
            </a:r>
            <a:r>
              <a:rPr lang="en-US" altLang="ko-KR" sz="1300" b="0" i="0" dirty="0">
                <a:effectLst/>
              </a:rPr>
              <a:t> Cho, </a:t>
            </a:r>
            <a:r>
              <a:rPr lang="en-US" altLang="ko-KR" sz="1300" b="0" i="0" dirty="0" err="1">
                <a:effectLst/>
              </a:rPr>
              <a:t>Joonsang</a:t>
            </a:r>
            <a:r>
              <a:rPr lang="en-US" altLang="ko-KR" sz="1300" b="0" i="0" dirty="0">
                <a:effectLst/>
              </a:rPr>
              <a:t> Yu, </a:t>
            </a:r>
            <a:r>
              <a:rPr lang="en-US" altLang="ko-KR" sz="1300" b="0" i="0" dirty="0" err="1">
                <a:effectLst/>
              </a:rPr>
              <a:t>Youngjoon</a:t>
            </a:r>
            <a:r>
              <a:rPr lang="en-US" altLang="ko-KR" sz="1300" b="0" i="0" dirty="0">
                <a:effectLst/>
              </a:rPr>
              <a:t> Yoo, Jin Young Choi, “Gaussian Mixture Proposals with Pull-Push Learning Scheme to Capture Diverse Events for Weakly Supervised Temporal Video Grounding”, Thirty-Eighth AAAI Conference on Artificial Intelligence, 2024. </a:t>
            </a:r>
          </a:p>
          <a:p>
            <a:pPr algn="just" rtl="0"/>
            <a:r>
              <a:rPr lang="en-US" altLang="ko-KR" sz="700" b="0" i="0" dirty="0">
                <a:effectLst/>
              </a:rPr>
              <a:t> </a:t>
            </a:r>
          </a:p>
          <a:p>
            <a:pPr marL="171450" indent="-171450" algn="just" rtl="0">
              <a:buFont typeface="Arial" panose="020B0604020202020204" pitchFamily="34" charset="0"/>
              <a:buChar char="•"/>
            </a:pPr>
            <a:r>
              <a:rPr lang="en-US" altLang="ko-KR" sz="1300" b="1" i="0" dirty="0" smtClean="0">
                <a:effectLst/>
              </a:rPr>
              <a:t>Sunoh </a:t>
            </a:r>
            <a:r>
              <a:rPr lang="en-US" altLang="ko-KR" sz="1300" b="1" i="0" dirty="0">
                <a:effectLst/>
              </a:rPr>
              <a:t>Kim</a:t>
            </a:r>
            <a:r>
              <a:rPr lang="en-US" altLang="ko-KR" sz="1300" b="0" i="0" dirty="0">
                <a:effectLst/>
              </a:rPr>
              <a:t>, </a:t>
            </a:r>
            <a:r>
              <a:rPr lang="en-US" altLang="ko-KR" sz="1300" b="0" i="0" dirty="0" err="1">
                <a:effectLst/>
              </a:rPr>
              <a:t>Taegil</a:t>
            </a:r>
            <a:r>
              <a:rPr lang="en-US" altLang="ko-KR" sz="1300" b="0" i="0" dirty="0">
                <a:effectLst/>
              </a:rPr>
              <a:t> Ha, </a:t>
            </a:r>
            <a:r>
              <a:rPr lang="en-US" altLang="ko-KR" sz="1300" b="0" i="0" dirty="0" err="1">
                <a:effectLst/>
              </a:rPr>
              <a:t>Kimin</a:t>
            </a:r>
            <a:r>
              <a:rPr lang="en-US" altLang="ko-KR" sz="1300" b="0" i="0" dirty="0">
                <a:effectLst/>
              </a:rPr>
              <a:t> Yun, Jin Young Choi, “SWAG-Net: Semantic Word-Aware Graph Network for Temporal Video Grounding”, ACM International Conference on Information and Knowledge Management, 2022.</a:t>
            </a:r>
          </a:p>
          <a:p>
            <a:pPr algn="just" rtl="0"/>
            <a:r>
              <a:rPr lang="en-US" altLang="ko-KR" sz="700" dirty="0"/>
              <a:t> </a:t>
            </a:r>
            <a:r>
              <a:rPr lang="en-US" altLang="ko-KR" sz="700" b="0" i="0" dirty="0">
                <a:effectLst/>
              </a:rPr>
              <a:t> </a:t>
            </a:r>
          </a:p>
          <a:p>
            <a:pPr marL="171450" indent="-171450" algn="just" rtl="0">
              <a:buFont typeface="Arial" panose="020B0604020202020204" pitchFamily="34" charset="0"/>
              <a:buChar char="•"/>
            </a:pPr>
            <a:r>
              <a:rPr lang="en-US" altLang="ko-KR" sz="1300" b="1" i="0" dirty="0" smtClean="0">
                <a:effectLst/>
              </a:rPr>
              <a:t>Sunoh </a:t>
            </a:r>
            <a:r>
              <a:rPr lang="en-US" altLang="ko-KR" sz="1300" b="1" i="0" dirty="0">
                <a:effectLst/>
              </a:rPr>
              <a:t>Kim</a:t>
            </a:r>
            <a:r>
              <a:rPr lang="en-US" altLang="ko-KR" sz="1300" b="0" i="0" dirty="0">
                <a:effectLst/>
              </a:rPr>
              <a:t>, </a:t>
            </a:r>
            <a:r>
              <a:rPr lang="en-US" altLang="ko-KR" sz="1300" b="0" i="0" dirty="0" err="1">
                <a:effectLst/>
              </a:rPr>
              <a:t>Kimin</a:t>
            </a:r>
            <a:r>
              <a:rPr lang="en-US" altLang="ko-KR" sz="1300" b="0" i="0" dirty="0">
                <a:effectLst/>
              </a:rPr>
              <a:t> Yun, Jin Young Choi, “Position-aware Location Regression Network for Temporal Video Grounding”, IEEE International Conference on Advanced Video and Signal-based Surveillance, 2021.</a:t>
            </a:r>
          </a:p>
          <a:p>
            <a:pPr algn="just" rtl="0"/>
            <a:r>
              <a:rPr lang="en-US" altLang="ko-KR" sz="700" dirty="0"/>
              <a:t> </a:t>
            </a:r>
            <a:endParaRPr lang="en-US" altLang="ko-KR" sz="700" b="0" i="0" dirty="0">
              <a:effectLst/>
            </a:endParaRPr>
          </a:p>
          <a:p>
            <a:pPr marL="171450" indent="-171450" algn="just" rtl="0">
              <a:buFont typeface="Arial" panose="020B0604020202020204" pitchFamily="34" charset="0"/>
              <a:buChar char="•"/>
            </a:pPr>
            <a:r>
              <a:rPr lang="en-US" altLang="ko-KR" sz="1300" b="1" i="0" dirty="0" smtClean="0">
                <a:effectLst/>
              </a:rPr>
              <a:t>Sunoh </a:t>
            </a:r>
            <a:r>
              <a:rPr lang="en-US" altLang="ko-KR" sz="1300" b="1" i="0" dirty="0">
                <a:effectLst/>
              </a:rPr>
              <a:t>Kim</a:t>
            </a:r>
            <a:r>
              <a:rPr lang="en-US" altLang="ko-KR" sz="1300" b="0" i="0" dirty="0">
                <a:effectLst/>
              </a:rPr>
              <a:t>, </a:t>
            </a:r>
            <a:r>
              <a:rPr lang="en-US" altLang="ko-KR" sz="1300" b="0" i="0" dirty="0" err="1">
                <a:effectLst/>
              </a:rPr>
              <a:t>Kimin</a:t>
            </a:r>
            <a:r>
              <a:rPr lang="en-US" altLang="ko-KR" sz="1300" b="0" i="0" dirty="0">
                <a:effectLst/>
              </a:rPr>
              <a:t> Yun, </a:t>
            </a:r>
            <a:r>
              <a:rPr lang="en-US" altLang="ko-KR" sz="1300" b="0" i="0" dirty="0" err="1">
                <a:effectLst/>
              </a:rPr>
              <a:t>Jongyoul</a:t>
            </a:r>
            <a:r>
              <a:rPr lang="en-US" altLang="ko-KR" sz="1300" b="0" i="0" dirty="0">
                <a:effectLst/>
              </a:rPr>
              <a:t> Park, Jin Young Choi, “Skeleton-based Action Recognition of People Handling Objects”, IEEE Winter Conference on Applications of Computer Vision, 2019.</a:t>
            </a:r>
            <a:endParaRPr lang="en-US" altLang="ko-KR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37489-B3CA-2C6A-E6CF-24B7F37168E2}"/>
              </a:ext>
            </a:extLst>
          </p:cNvPr>
          <p:cNvSpPr txBox="1"/>
          <p:nvPr/>
        </p:nvSpPr>
        <p:spPr>
          <a:xfrm>
            <a:off x="3082355" y="2106812"/>
            <a:ext cx="5153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62626"/>
                </a:solidFill>
              </a:rPr>
              <a:t>Publications</a:t>
            </a: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64F41446-6D8F-E276-1249-2FB977BE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597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4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Level</a:t>
            </a:r>
            <a:endParaRPr lang="en-US" altLang="ko-KR" sz="3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2CF32C-AF7C-F997-0AD7-C52ED2605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4" b="19816"/>
          <a:stretch/>
        </p:blipFill>
        <p:spPr bwMode="auto">
          <a:xfrm>
            <a:off x="3810000" y="1077171"/>
            <a:ext cx="4572000" cy="470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D62EFA0-1148-3D89-D052-449494054300}"/>
              </a:ext>
            </a:extLst>
          </p:cNvPr>
          <p:cNvSpPr/>
          <p:nvPr/>
        </p:nvSpPr>
        <p:spPr>
          <a:xfrm>
            <a:off x="3523234" y="948799"/>
            <a:ext cx="5173240" cy="1832868"/>
          </a:xfrm>
          <a:custGeom>
            <a:avLst/>
            <a:gdLst>
              <a:gd name="connsiteX0" fmla="*/ 0 w 5173240"/>
              <a:gd name="connsiteY0" fmla="*/ 305484 h 1832868"/>
              <a:gd name="connsiteX1" fmla="*/ 305484 w 5173240"/>
              <a:gd name="connsiteY1" fmla="*/ 0 h 1832868"/>
              <a:gd name="connsiteX2" fmla="*/ 1048483 w 5173240"/>
              <a:gd name="connsiteY2" fmla="*/ 0 h 1832868"/>
              <a:gd name="connsiteX3" fmla="*/ 1745858 w 5173240"/>
              <a:gd name="connsiteY3" fmla="*/ 0 h 1832868"/>
              <a:gd name="connsiteX4" fmla="*/ 2260743 w 5173240"/>
              <a:gd name="connsiteY4" fmla="*/ 0 h 1832868"/>
              <a:gd name="connsiteX5" fmla="*/ 2821251 w 5173240"/>
              <a:gd name="connsiteY5" fmla="*/ 0 h 1832868"/>
              <a:gd name="connsiteX6" fmla="*/ 3518627 w 5173240"/>
              <a:gd name="connsiteY6" fmla="*/ 0 h 1832868"/>
              <a:gd name="connsiteX7" fmla="*/ 4079135 w 5173240"/>
              <a:gd name="connsiteY7" fmla="*/ 0 h 1832868"/>
              <a:gd name="connsiteX8" fmla="*/ 4867756 w 5173240"/>
              <a:gd name="connsiteY8" fmla="*/ 0 h 1832868"/>
              <a:gd name="connsiteX9" fmla="*/ 5173240 w 5173240"/>
              <a:gd name="connsiteY9" fmla="*/ 305484 h 1832868"/>
              <a:gd name="connsiteX10" fmla="*/ 5173240 w 5173240"/>
              <a:gd name="connsiteY10" fmla="*/ 891996 h 1832868"/>
              <a:gd name="connsiteX11" fmla="*/ 5173240 w 5173240"/>
              <a:gd name="connsiteY11" fmla="*/ 1527384 h 1832868"/>
              <a:gd name="connsiteX12" fmla="*/ 4867756 w 5173240"/>
              <a:gd name="connsiteY12" fmla="*/ 1832868 h 1832868"/>
              <a:gd name="connsiteX13" fmla="*/ 4261626 w 5173240"/>
              <a:gd name="connsiteY13" fmla="*/ 1832868 h 1832868"/>
              <a:gd name="connsiteX14" fmla="*/ 3655495 w 5173240"/>
              <a:gd name="connsiteY14" fmla="*/ 1832868 h 1832868"/>
              <a:gd name="connsiteX15" fmla="*/ 2958119 w 5173240"/>
              <a:gd name="connsiteY15" fmla="*/ 1832868 h 1832868"/>
              <a:gd name="connsiteX16" fmla="*/ 2306366 w 5173240"/>
              <a:gd name="connsiteY16" fmla="*/ 1832868 h 1832868"/>
              <a:gd name="connsiteX17" fmla="*/ 1608990 w 5173240"/>
              <a:gd name="connsiteY17" fmla="*/ 1832868 h 1832868"/>
              <a:gd name="connsiteX18" fmla="*/ 865992 w 5173240"/>
              <a:gd name="connsiteY18" fmla="*/ 1832868 h 1832868"/>
              <a:gd name="connsiteX19" fmla="*/ 305484 w 5173240"/>
              <a:gd name="connsiteY19" fmla="*/ 1832868 h 1832868"/>
              <a:gd name="connsiteX20" fmla="*/ 0 w 5173240"/>
              <a:gd name="connsiteY20" fmla="*/ 1527384 h 1832868"/>
              <a:gd name="connsiteX21" fmla="*/ 0 w 5173240"/>
              <a:gd name="connsiteY21" fmla="*/ 928653 h 1832868"/>
              <a:gd name="connsiteX22" fmla="*/ 0 w 5173240"/>
              <a:gd name="connsiteY22" fmla="*/ 305484 h 183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173240" h="1832868" extrusionOk="0">
                <a:moveTo>
                  <a:pt x="0" y="305484"/>
                </a:moveTo>
                <a:cubicBezTo>
                  <a:pt x="-10461" y="122454"/>
                  <a:pt x="127664" y="-5810"/>
                  <a:pt x="305484" y="0"/>
                </a:cubicBezTo>
                <a:cubicBezTo>
                  <a:pt x="665757" y="32125"/>
                  <a:pt x="761637" y="-32848"/>
                  <a:pt x="1048483" y="0"/>
                </a:cubicBezTo>
                <a:cubicBezTo>
                  <a:pt x="1335329" y="32848"/>
                  <a:pt x="1458534" y="-9927"/>
                  <a:pt x="1745858" y="0"/>
                </a:cubicBezTo>
                <a:cubicBezTo>
                  <a:pt x="2033182" y="9927"/>
                  <a:pt x="2100724" y="10363"/>
                  <a:pt x="2260743" y="0"/>
                </a:cubicBezTo>
                <a:cubicBezTo>
                  <a:pt x="2420762" y="-10363"/>
                  <a:pt x="2663912" y="14447"/>
                  <a:pt x="2821251" y="0"/>
                </a:cubicBezTo>
                <a:cubicBezTo>
                  <a:pt x="2978590" y="-14447"/>
                  <a:pt x="3225429" y="17205"/>
                  <a:pt x="3518627" y="0"/>
                </a:cubicBezTo>
                <a:cubicBezTo>
                  <a:pt x="3811825" y="-17205"/>
                  <a:pt x="3863331" y="-10026"/>
                  <a:pt x="4079135" y="0"/>
                </a:cubicBezTo>
                <a:cubicBezTo>
                  <a:pt x="4294939" y="10026"/>
                  <a:pt x="4669230" y="-26447"/>
                  <a:pt x="4867756" y="0"/>
                </a:cubicBezTo>
                <a:cubicBezTo>
                  <a:pt x="5044747" y="-5175"/>
                  <a:pt x="5174600" y="171310"/>
                  <a:pt x="5173240" y="305484"/>
                </a:cubicBezTo>
                <a:cubicBezTo>
                  <a:pt x="5181975" y="570507"/>
                  <a:pt x="5146581" y="655410"/>
                  <a:pt x="5173240" y="891996"/>
                </a:cubicBezTo>
                <a:cubicBezTo>
                  <a:pt x="5199899" y="1128582"/>
                  <a:pt x="5179186" y="1243941"/>
                  <a:pt x="5173240" y="1527384"/>
                </a:cubicBezTo>
                <a:cubicBezTo>
                  <a:pt x="5172100" y="1713682"/>
                  <a:pt x="5004171" y="1835918"/>
                  <a:pt x="4867756" y="1832868"/>
                </a:cubicBezTo>
                <a:cubicBezTo>
                  <a:pt x="4625534" y="1839690"/>
                  <a:pt x="4557092" y="1803790"/>
                  <a:pt x="4261626" y="1832868"/>
                </a:cubicBezTo>
                <a:cubicBezTo>
                  <a:pt x="3966160" y="1861947"/>
                  <a:pt x="3858036" y="1826208"/>
                  <a:pt x="3655495" y="1832868"/>
                </a:cubicBezTo>
                <a:cubicBezTo>
                  <a:pt x="3452954" y="1839528"/>
                  <a:pt x="3152368" y="1826127"/>
                  <a:pt x="2958119" y="1832868"/>
                </a:cubicBezTo>
                <a:cubicBezTo>
                  <a:pt x="2763870" y="1839609"/>
                  <a:pt x="2507351" y="1814429"/>
                  <a:pt x="2306366" y="1832868"/>
                </a:cubicBezTo>
                <a:cubicBezTo>
                  <a:pt x="2105381" y="1851307"/>
                  <a:pt x="1936634" y="1862282"/>
                  <a:pt x="1608990" y="1832868"/>
                </a:cubicBezTo>
                <a:cubicBezTo>
                  <a:pt x="1281346" y="1803454"/>
                  <a:pt x="1221996" y="1838771"/>
                  <a:pt x="865992" y="1832868"/>
                </a:cubicBezTo>
                <a:cubicBezTo>
                  <a:pt x="509988" y="1826965"/>
                  <a:pt x="561267" y="1837944"/>
                  <a:pt x="305484" y="1832868"/>
                </a:cubicBezTo>
                <a:cubicBezTo>
                  <a:pt x="151667" y="1832195"/>
                  <a:pt x="3059" y="1701395"/>
                  <a:pt x="0" y="1527384"/>
                </a:cubicBezTo>
                <a:cubicBezTo>
                  <a:pt x="15025" y="1299746"/>
                  <a:pt x="-4810" y="1187961"/>
                  <a:pt x="0" y="928653"/>
                </a:cubicBezTo>
                <a:cubicBezTo>
                  <a:pt x="4810" y="669345"/>
                  <a:pt x="-3180" y="523384"/>
                  <a:pt x="0" y="305484"/>
                </a:cubicBezTo>
                <a:close/>
              </a:path>
            </a:pathLst>
          </a:custGeom>
          <a:noFill/>
          <a:ln w="57150">
            <a:solidFill>
              <a:srgbClr val="FF4B4B"/>
            </a:solidFill>
            <a:extLst>
              <a:ext uri="{C807C97D-BFC1-408E-A445-0C87EB9F89A2}">
                <ask:lineSketchStyleProps xmlns:ask="http://schemas.microsoft.com/office/drawing/2018/sketchyshapes" xmlns="" sd="25269219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9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503F152-4D6B-3C63-C688-17766BD9A0CC}"/>
              </a:ext>
            </a:extLst>
          </p:cNvPr>
          <p:cNvGrpSpPr/>
          <p:nvPr/>
        </p:nvGrpSpPr>
        <p:grpSpPr>
          <a:xfrm>
            <a:off x="4023859" y="2756973"/>
            <a:ext cx="7071018" cy="646331"/>
            <a:chOff x="4589009" y="2215278"/>
            <a:chExt cx="7071018" cy="6463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61B9C5-DE01-8077-A8C1-D8896C1DC92A}"/>
                </a:ext>
              </a:extLst>
            </p:cNvPr>
            <p:cNvSpPr txBox="1"/>
            <p:nvPr/>
          </p:nvSpPr>
          <p:spPr>
            <a:xfrm>
              <a:off x="5547105" y="2353778"/>
              <a:ext cx="611292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 smtClean="0"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Method</a:t>
              </a:r>
              <a:endParaRPr lang="en-US" altLang="ko-KR" sz="2700" b="1" dirty="0"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24D5DF-8506-DC10-B368-9451247B9E3B}"/>
                </a:ext>
              </a:extLst>
            </p:cNvPr>
            <p:cNvSpPr txBox="1"/>
            <p:nvPr/>
          </p:nvSpPr>
          <p:spPr>
            <a:xfrm>
              <a:off x="4589009" y="2215278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F317EB8-06A4-DE75-CC18-30C387675708}"/>
              </a:ext>
            </a:extLst>
          </p:cNvPr>
          <p:cNvGrpSpPr/>
          <p:nvPr/>
        </p:nvGrpSpPr>
        <p:grpSpPr>
          <a:xfrm>
            <a:off x="3536718" y="4056093"/>
            <a:ext cx="7237426" cy="646331"/>
            <a:chOff x="4101868" y="3575953"/>
            <a:chExt cx="7237426" cy="6463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65E6A5-6340-D45B-50AD-2ACA07094143}"/>
                </a:ext>
              </a:extLst>
            </p:cNvPr>
            <p:cNvSpPr txBox="1"/>
            <p:nvPr/>
          </p:nvSpPr>
          <p:spPr>
            <a:xfrm>
              <a:off x="5059964" y="3714453"/>
              <a:ext cx="627933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 smtClean="0"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Plan</a:t>
              </a:r>
              <a:endParaRPr lang="en-US" altLang="ko-KR" sz="2700" b="1" dirty="0"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B7EAFA-334C-F220-8532-C2BB6595BAE0}"/>
                </a:ext>
              </a:extLst>
            </p:cNvPr>
            <p:cNvSpPr txBox="1"/>
            <p:nvPr/>
          </p:nvSpPr>
          <p:spPr>
            <a:xfrm>
              <a:off x="4101868" y="3575953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7250DBB-64F2-7C0F-872B-F5E50A762744}"/>
              </a:ext>
            </a:extLst>
          </p:cNvPr>
          <p:cNvGrpSpPr/>
          <p:nvPr/>
        </p:nvGrpSpPr>
        <p:grpSpPr>
          <a:xfrm>
            <a:off x="4511000" y="1457853"/>
            <a:ext cx="7071018" cy="646331"/>
            <a:chOff x="5076150" y="854603"/>
            <a:chExt cx="7071018" cy="6463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8C4850-60E7-D34E-4F44-5E3B740780E9}"/>
                </a:ext>
              </a:extLst>
            </p:cNvPr>
            <p:cNvSpPr txBox="1"/>
            <p:nvPr/>
          </p:nvSpPr>
          <p:spPr>
            <a:xfrm>
              <a:off x="6034246" y="993103"/>
              <a:ext cx="611292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latin typeface="Arial" panose="020B0604020202020204" pitchFamily="34" charset="0"/>
                  <a:ea typeface="KoPub돋움체 Bold" panose="02020603020101020101" pitchFamily="18" charset="-127"/>
                  <a:cs typeface="Arial" panose="020B0604020202020204" pitchFamily="34" charset="0"/>
                </a:rPr>
                <a:t>Overview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80FA46-5B86-64DB-4875-07A57D756034}"/>
                </a:ext>
              </a:extLst>
            </p:cNvPr>
            <p:cNvSpPr txBox="1"/>
            <p:nvPr/>
          </p:nvSpPr>
          <p:spPr>
            <a:xfrm>
              <a:off x="5076150" y="854603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003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2710471" y="2783399"/>
            <a:ext cx="67710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Overview</a:t>
            </a:r>
            <a:endParaRPr lang="en-US" altLang="ko-KR" sz="44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94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95943" y="-130629"/>
            <a:ext cx="12663714" cy="7199086"/>
          </a:xfrm>
          <a:prstGeom prst="rect">
            <a:avLst/>
          </a:prstGeom>
          <a:solidFill>
            <a:srgbClr val="070C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2" descr="AI] LLM 이란 무엇인가?! - 대형 언어 모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311" y="1451430"/>
            <a:ext cx="8895378" cy="389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10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US" altLang="ko-K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3979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Large Language Model (LLM)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1" name="Picture 2" descr="What Is ChatGPT: How To Use The Best AI Apps on iPh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73" y="1564913"/>
            <a:ext cx="11221736" cy="362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40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3979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Large Language Model (LLM)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902200" y="2014352"/>
            <a:ext cx="2387600" cy="3457391"/>
            <a:chOff x="4734074" y="2014352"/>
            <a:chExt cx="2387600" cy="3457391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5927874" y="2476500"/>
              <a:ext cx="0" cy="2520043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079">
              <a:extLst>
                <a:ext uri="{FF2B5EF4-FFF2-40B4-BE49-F238E27FC236}">
                  <a16:creationId xmlns:a16="http://schemas.microsoft.com/office/drawing/2014/main" id="{21F32988-0C21-962E-9802-6624AC02E23F}"/>
                </a:ext>
              </a:extLst>
            </p:cNvPr>
            <p:cNvSpPr/>
            <p:nvPr/>
          </p:nvSpPr>
          <p:spPr>
            <a:xfrm>
              <a:off x="5338372" y="2014352"/>
              <a:ext cx="117900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dirty="0" smtClean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Text</a:t>
              </a:r>
              <a:endParaRPr lang="en-US" altLang="ko-KR" sz="2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079">
              <a:extLst>
                <a:ext uri="{FF2B5EF4-FFF2-40B4-BE49-F238E27FC236}">
                  <a16:creationId xmlns:a16="http://schemas.microsoft.com/office/drawing/2014/main" id="{21F32988-0C21-962E-9802-6624AC02E23F}"/>
                </a:ext>
              </a:extLst>
            </p:cNvPr>
            <p:cNvSpPr/>
            <p:nvPr/>
          </p:nvSpPr>
          <p:spPr>
            <a:xfrm>
              <a:off x="5338372" y="5071633"/>
              <a:ext cx="117900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smtClean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Text</a:t>
              </a:r>
              <a:endParaRPr lang="en-US" altLang="ko-KR" sz="2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734074" y="3013084"/>
              <a:ext cx="2387600" cy="12446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ysClr val="windowText" lastClr="000000"/>
                  </a:solidFill>
                </a:rPr>
                <a:t>LLM</a:t>
              </a:r>
              <a:endParaRPr lang="ko-KR" altLang="en-US" sz="24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445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Multimodal Large Language Model (MLLM)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369516" y="1962150"/>
            <a:ext cx="5452969" cy="3601218"/>
            <a:chOff x="1101074" y="1962150"/>
            <a:chExt cx="5452969" cy="3601218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3829050" y="2476500"/>
              <a:ext cx="0" cy="2520043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2635250" y="3013084"/>
              <a:ext cx="2387600" cy="12446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ysClr val="windowText" lastClr="000000"/>
                  </a:solidFill>
                </a:rPr>
                <a:t>MLLM</a:t>
              </a:r>
              <a:endParaRPr lang="ko-KR" altLang="en-US" sz="2400" b="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101074" y="1962150"/>
              <a:ext cx="5452969" cy="514350"/>
              <a:chOff x="1101074" y="1962150"/>
              <a:chExt cx="5452969" cy="514350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174514" y="2014352"/>
                <a:ext cx="5379529" cy="400110"/>
                <a:chOff x="1167427" y="2014352"/>
                <a:chExt cx="5379529" cy="400110"/>
              </a:xfrm>
            </p:grpSpPr>
            <p:sp>
              <p:nvSpPr>
                <p:cNvPr id="15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3267689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Text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2217558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Video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4317820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Audio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1167427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Image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5367951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…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ounded Rectangle 4"/>
              <p:cNvSpPr/>
              <p:nvPr/>
            </p:nvSpPr>
            <p:spPr>
              <a:xfrm>
                <a:off x="1101074" y="1962150"/>
                <a:ext cx="5364496" cy="514350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101074" y="5049018"/>
              <a:ext cx="5452969" cy="514350"/>
              <a:chOff x="1101074" y="1962150"/>
              <a:chExt cx="5452969" cy="514350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1174514" y="2014352"/>
                <a:ext cx="5379529" cy="400110"/>
                <a:chOff x="1167427" y="2014352"/>
                <a:chExt cx="5379529" cy="400110"/>
              </a:xfrm>
            </p:grpSpPr>
            <p:sp>
              <p:nvSpPr>
                <p:cNvPr id="35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3267689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Text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2217558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Video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4317820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Audio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1167427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Image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5367951" y="2014352"/>
                  <a:ext cx="1179005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000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…</a:t>
                  </a:r>
                  <a:endParaRPr lang="en-US" altLang="ko-KR" sz="2000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4" name="Rounded Rectangle 33"/>
              <p:cNvSpPr/>
              <p:nvPr/>
            </p:nvSpPr>
            <p:spPr>
              <a:xfrm>
                <a:off x="1101074" y="1962150"/>
                <a:ext cx="5364496" cy="514350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631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/>
          <p:nvPr/>
        </p:nvCxnSpPr>
        <p:spPr>
          <a:xfrm>
            <a:off x="3829050" y="2476500"/>
            <a:ext cx="0" cy="2520043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7463000" y="1727237"/>
            <a:ext cx="2568186" cy="2914162"/>
            <a:chOff x="7131049" y="1793497"/>
            <a:chExt cx="3232088" cy="3667502"/>
          </a:xfrm>
        </p:grpSpPr>
        <p:pic>
          <p:nvPicPr>
            <p:cNvPr id="4" name="Picture 2" descr="OpenAI, 미국에서 아이폰용 무료 ChatGPT 출시 발표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6581" y="1793497"/>
              <a:ext cx="3121025" cy="915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6581" y="2813050"/>
              <a:ext cx="3121024" cy="1134665"/>
            </a:xfrm>
            <a:prstGeom prst="rect">
              <a:avLst/>
            </a:prstGeom>
          </p:spPr>
        </p:pic>
        <p:pic>
          <p:nvPicPr>
            <p:cNvPr id="1036" name="Picture 12" descr="클로드 로고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78" t="29639" r="16978" b="29639"/>
            <a:stretch/>
          </p:blipFill>
          <p:spPr bwMode="auto">
            <a:xfrm>
              <a:off x="7131049" y="4340234"/>
              <a:ext cx="3232088" cy="1120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Multimodal Large Language Model (MLLM)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3239548" y="5071633"/>
            <a:ext cx="11790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Text</a:t>
            </a:r>
            <a:endParaRPr lang="en-US" altLang="ko-KR" sz="2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35250" y="3013084"/>
            <a:ext cx="2387600" cy="1244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ysClr val="windowText" lastClr="000000"/>
                </a:solidFill>
              </a:rPr>
              <a:t>VLM</a:t>
            </a:r>
            <a:endParaRPr lang="ko-KR" altLang="en-US" sz="24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632693" y="1962150"/>
            <a:ext cx="2306863" cy="514350"/>
            <a:chOff x="2632693" y="1962150"/>
            <a:chExt cx="2306863" cy="514350"/>
          </a:xfrm>
        </p:grpSpPr>
        <p:grpSp>
          <p:nvGrpSpPr>
            <p:cNvPr id="7" name="Group 6"/>
            <p:cNvGrpSpPr/>
            <p:nvPr/>
          </p:nvGrpSpPr>
          <p:grpSpPr>
            <a:xfrm>
              <a:off x="2688456" y="2014352"/>
              <a:ext cx="2251100" cy="400110"/>
              <a:chOff x="2681369" y="2014352"/>
              <a:chExt cx="2251100" cy="400110"/>
            </a:xfrm>
          </p:grpSpPr>
          <p:sp>
            <p:nvSpPr>
              <p:cNvPr id="15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3753464" y="2014352"/>
                <a:ext cx="117900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000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Text</a:t>
                </a:r>
                <a:endParaRPr lang="en-US" altLang="ko-KR" sz="2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2681369" y="2014352"/>
                <a:ext cx="117900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000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Image</a:t>
                </a:r>
                <a:endParaRPr lang="en-US" altLang="ko-KR" sz="2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Rounded Rectangle 4"/>
            <p:cNvSpPr/>
            <p:nvPr/>
          </p:nvSpPr>
          <p:spPr>
            <a:xfrm>
              <a:off x="2632693" y="1962150"/>
              <a:ext cx="2301258" cy="514350"/>
            </a:xfrm>
            <a:prstGeom prst="round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329586" y="1291516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Vision-Language Model (VLM)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294634" y="4908458"/>
            <a:ext cx="2904916" cy="931909"/>
            <a:chOff x="7294634" y="4908458"/>
            <a:chExt cx="2904916" cy="931909"/>
          </a:xfrm>
        </p:grpSpPr>
        <p:sp>
          <p:nvSpPr>
            <p:cNvPr id="11" name="Down Arrow 10"/>
            <p:cNvSpPr/>
            <p:nvPr/>
          </p:nvSpPr>
          <p:spPr>
            <a:xfrm>
              <a:off x="8382202" y="4908458"/>
              <a:ext cx="729781" cy="441858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079">
              <a:extLst>
                <a:ext uri="{FF2B5EF4-FFF2-40B4-BE49-F238E27FC236}">
                  <a16:creationId xmlns:a16="http://schemas.microsoft.com/office/drawing/2014/main" id="{21F32988-0C21-962E-9802-6624AC02E23F}"/>
                </a:ext>
              </a:extLst>
            </p:cNvPr>
            <p:cNvSpPr/>
            <p:nvPr/>
          </p:nvSpPr>
          <p:spPr>
            <a:xfrm>
              <a:off x="7294634" y="5440257"/>
              <a:ext cx="290491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dirty="0" smtClean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Closed-source models</a:t>
              </a:r>
              <a:endParaRPr lang="en-US" altLang="ko-KR" sz="2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58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9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Multimodal Large Language Model (MLLM)</a:t>
            </a:r>
          </a:p>
        </p:txBody>
      </p:sp>
      <p:sp>
        <p:nvSpPr>
          <p:cNvPr id="20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329586" y="1291516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Open-Source 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Vision-Language Model (VLM)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734622" y="3035933"/>
            <a:ext cx="2237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InterVL</a:t>
            </a:r>
            <a:endParaRPr lang="en-US" altLang="ko-KR" sz="2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734622" y="3607433"/>
            <a:ext cx="2237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MiniCPM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endParaRPr lang="en-US" altLang="ko-KR" sz="2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734622" y="1892933"/>
            <a:ext cx="2237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LLaVA</a:t>
            </a:r>
            <a:endParaRPr lang="en-US" altLang="ko-KR" sz="2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0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734622" y="2464433"/>
            <a:ext cx="2237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Phi-Vision</a:t>
            </a:r>
            <a:endParaRPr lang="en-US" altLang="ko-KR" sz="2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734622" y="4178934"/>
            <a:ext cx="2237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-VL</a:t>
            </a:r>
            <a:endParaRPr lang="en-US" altLang="ko-KR" sz="2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02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/>
      <p:bldP spid="8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Multimodal Large Language Model (MLLM)</a:t>
            </a:r>
          </a:p>
        </p:txBody>
      </p:sp>
      <p:sp>
        <p:nvSpPr>
          <p:cNvPr id="20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329586" y="1291516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Open-Source 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Vision-Language Model (VLM)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026" name="Picture 2" descr="https://private-user-images.githubusercontent.com/23737120/351048860-7ce93c05-84ae-4997-a480-53897d1d3a1c.png?jwt=eyJhbGciOiJIUzI1NiIsInR5cCI6IkpXVCJ9.eyJpc3MiOiJnaXRodWIuY29tIiwiYXVkIjoicmF3LmdpdGh1YnVzZXJjb250ZW50LmNvbSIsImtleSI6ImtleTUiLCJleHAiOjE3MjMwODQyNTQsIm5iZiI6MTcyMzA4Mzk1NCwicGF0aCI6Ii8yMzczNzEyMC8zNTEwNDg4NjAtN2NlOTNjMDUtODRhZS00OTk3LWE0ODAtNTM4OTdkMWQzYTFjLnBuZz9YLUFtei1BbGdvcml0aG09QVdTNC1ITUFDLVNIQTI1NiZYLUFtei1DcmVkZW50aWFsPUFLSUFWQ09EWUxTQTUzUFFLNFpBJTJGMjAyNDA4MDglMkZ1cy1lYXN0LTElMkZzMyUyRmF3czRfcmVxdWVzdCZYLUFtei1EYXRlPTIwMjQwODA4VDAyMjU1NFomWC1BbXotRXhwaXJlcz0zMDAmWC1BbXotU2lnbmF0dXJlPTU0Mzg3MWI0MzBhNDE4NjExOGQzYzYxMWQ2YTVkNjI0M2I3YzJlNTY4MjliZjYyYWQ2YzdlMDE1Nzc5YzBlNDQmWC1BbXotU2lnbmVkSGVhZGVycz1ob3N0JmFjdG9yX2lkPTAma2V5X2lkPTAmcmVwb19pZD0wIn0.Ktq0d8T_IzUoJdgy2IpjUkkkN5JpxqRwAJrGtFjmSP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8"/>
          <a:stretch/>
        </p:blipFill>
        <p:spPr bwMode="auto">
          <a:xfrm>
            <a:off x="1673333" y="1827765"/>
            <a:ext cx="8845336" cy="458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90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Multimodal Large Language Model (MLLM)</a:t>
            </a:r>
          </a:p>
        </p:txBody>
      </p:sp>
      <p:sp>
        <p:nvSpPr>
          <p:cNvPr id="20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329586" y="1291516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Open-Source 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Vision-Language Model (VLM)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677878" y="1821101"/>
            <a:ext cx="91660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Problem: 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Open-source model</a:t>
            </a:r>
            <a:r>
              <a:rPr lang="ko-KR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의 경우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데이터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확보의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어려움으로 인해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영어를 제외한 다른 언어에 대한 성능이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Closed-source models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보다 떨어지는 경우가 많음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특히 이미지에서 해당 언어를 읽어야 하는 경우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(OCR)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에 큰 성능 저하를 보여줌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677879" y="4404540"/>
            <a:ext cx="61712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Open-source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altLang="ko-K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MiniCPM</a:t>
            </a:r>
            <a:r>
              <a:rPr lang="en-US" altLang="ko-K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-V)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질문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제품의 이름이 뭐야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just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대답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이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사진 속 제품의 이름은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불사조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감자칩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이다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64"/>
          <a:stretch/>
        </p:blipFill>
        <p:spPr>
          <a:xfrm>
            <a:off x="7480897" y="3160509"/>
            <a:ext cx="2807356" cy="3031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677879" y="3160509"/>
            <a:ext cx="57416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Closed-source 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Model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en-US" altLang="ko-KR" sz="2000" b="1" dirty="0" err="1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ChatGPT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algn="just"/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질문</a:t>
            </a:r>
            <a:r>
              <a:rPr lang="en-US" altLang="ko-KR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제품의 이름이 뭐야</a:t>
            </a:r>
            <a:r>
              <a:rPr lang="en-US" altLang="ko-KR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?</a:t>
            </a:r>
          </a:p>
          <a:p>
            <a:pPr algn="just"/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대답</a:t>
            </a:r>
            <a:r>
              <a:rPr lang="en-US" altLang="ko-KR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제품의 이름은 농심 매운 </a:t>
            </a:r>
            <a:r>
              <a:rPr lang="ko-KR" altLang="en-US" dirty="0" err="1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새우깡입니다</a:t>
            </a:r>
            <a:r>
              <a:rPr lang="en-US" altLang="ko-KR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en-US" altLang="ko-KR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88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Multimodal Large Language Model (MLLM)</a:t>
            </a:r>
          </a:p>
        </p:txBody>
      </p:sp>
      <p:sp>
        <p:nvSpPr>
          <p:cNvPr id="20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329586" y="1291516"/>
            <a:ext cx="6089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Open-Source 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Vision-Language Model (VLM)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677878" y="1821101"/>
            <a:ext cx="91660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Problem: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Open-source model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의 경우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데이터 확보의 어려움으로 인해 영어를 제외한 다른 언어에 대한 성능이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Closed-source models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보다 떨어지는 경우가 많음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특히 이미지에서 해당 언어를 읽어야 하는 경우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(OCR)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에 큰 성능 저하를 보여줌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677878" y="3367603"/>
            <a:ext cx="916604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Solution: </a:t>
            </a:r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영어를 제외한 다른 언어와 임의의 이미지를 </a:t>
            </a:r>
            <a:r>
              <a:rPr lang="en-US" altLang="ko-KR" dirty="0" err="1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CutMix</a:t>
            </a:r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하는 방식의 데이터 증강 기법을 사용하여 데이터 확보</a:t>
            </a:r>
            <a:r>
              <a:rPr lang="en-US" altLang="ko-KR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데이터를 통해 </a:t>
            </a:r>
            <a:r>
              <a:rPr lang="en-US" altLang="ko-KR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VLM</a:t>
            </a:r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성능을 개선</a:t>
            </a:r>
            <a:r>
              <a:rPr lang="en-US" altLang="ko-KR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r>
              <a:rPr lang="ko-KR" altLang="en-US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endParaRPr lang="en-US" altLang="ko-KR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5896012" y="2837363"/>
            <a:ext cx="729781" cy="441858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395" y="4133093"/>
            <a:ext cx="6073016" cy="223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2710471" y="2783399"/>
            <a:ext cx="67710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Method</a:t>
            </a:r>
            <a:endParaRPr lang="en-US" altLang="ko-KR" sz="44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41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Method</a:t>
            </a:r>
            <a:endParaRPr lang="en-US" altLang="ko-KR" sz="3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59181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Image-Text </a:t>
            </a:r>
            <a:r>
              <a:rPr lang="en-US" altLang="ko-KR" sz="2000" b="1" dirty="0" err="1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CutMix</a:t>
            </a: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Augmentation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288064" y="1851849"/>
            <a:ext cx="3363436" cy="3460750"/>
            <a:chOff x="2288064" y="1716585"/>
            <a:chExt cx="3363436" cy="3460750"/>
          </a:xfrm>
        </p:grpSpPr>
        <p:sp>
          <p:nvSpPr>
            <p:cNvPr id="22" name="직사각형 1079">
              <a:extLst>
                <a:ext uri="{FF2B5EF4-FFF2-40B4-BE49-F238E27FC236}">
                  <a16:creationId xmlns:a16="http://schemas.microsoft.com/office/drawing/2014/main" id="{21F32988-0C21-962E-9802-6624AC02E23F}"/>
                </a:ext>
              </a:extLst>
            </p:cNvPr>
            <p:cNvSpPr/>
            <p:nvPr/>
          </p:nvSpPr>
          <p:spPr>
            <a:xfrm>
              <a:off x="2568262" y="1851849"/>
              <a:ext cx="245688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 smtClean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Image template</a:t>
              </a:r>
              <a:endParaRPr lang="en-US" altLang="ko-KR" sz="2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직사각형 1079">
              <a:extLst>
                <a:ext uri="{FF2B5EF4-FFF2-40B4-BE49-F238E27FC236}">
                  <a16:creationId xmlns:a16="http://schemas.microsoft.com/office/drawing/2014/main" id="{21F32988-0C21-962E-9802-6624AC02E23F}"/>
                </a:ext>
              </a:extLst>
            </p:cNvPr>
            <p:cNvSpPr/>
            <p:nvPr/>
          </p:nvSpPr>
          <p:spPr>
            <a:xfrm>
              <a:off x="2568262" y="3940074"/>
              <a:ext cx="286733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 smtClean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Text</a:t>
              </a:r>
              <a:endParaRPr lang="en-US" altLang="ko-KR" sz="2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204" b="23190"/>
            <a:stretch/>
          </p:blipFill>
          <p:spPr>
            <a:xfrm>
              <a:off x="2922587" y="2351585"/>
              <a:ext cx="2178774" cy="12429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2587" y="4415556"/>
              <a:ext cx="1543051" cy="540328"/>
            </a:xfrm>
            <a:prstGeom prst="rect">
              <a:avLst/>
            </a:prstGeom>
          </p:spPr>
        </p:pic>
        <p:sp>
          <p:nvSpPr>
            <p:cNvPr id="28" name="Rounded Rectangle 27"/>
            <p:cNvSpPr/>
            <p:nvPr/>
          </p:nvSpPr>
          <p:spPr>
            <a:xfrm>
              <a:off x="2288064" y="1716585"/>
              <a:ext cx="3363436" cy="3460750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010550" y="2444579"/>
            <a:ext cx="4138204" cy="1710963"/>
            <a:chOff x="6010550" y="2444579"/>
            <a:chExt cx="4138204" cy="1710963"/>
          </a:xfrm>
        </p:grpSpPr>
        <p:grpSp>
          <p:nvGrpSpPr>
            <p:cNvPr id="31" name="Group 30"/>
            <p:cNvGrpSpPr/>
            <p:nvPr/>
          </p:nvGrpSpPr>
          <p:grpSpPr>
            <a:xfrm>
              <a:off x="6010550" y="2912589"/>
              <a:ext cx="3722500" cy="1242953"/>
              <a:chOff x="6067700" y="2777325"/>
              <a:chExt cx="3722500" cy="1242953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7611426" y="2777325"/>
                <a:ext cx="2178774" cy="1242953"/>
                <a:chOff x="5119687" y="2148032"/>
                <a:chExt cx="2178774" cy="1242953"/>
              </a:xfrm>
            </p:grpSpPr>
            <p:pic>
              <p:nvPicPr>
                <p:cNvPr id="24" name="Picture 23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204" b="23190"/>
                <a:stretch/>
              </p:blipFill>
              <p:spPr>
                <a:xfrm>
                  <a:off x="5119687" y="2148032"/>
                  <a:ext cx="2178774" cy="1242953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pic>
              <p:nvPicPr>
                <p:cNvPr id="25" name="Picture 2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9954" y="2265638"/>
                  <a:ext cx="942976" cy="330201"/>
                </a:xfrm>
                <a:prstGeom prst="rect">
                  <a:avLst/>
                </a:prstGeom>
              </p:spPr>
            </p:pic>
          </p:grpSp>
          <p:sp>
            <p:nvSpPr>
              <p:cNvPr id="27" name="Down Arrow 26"/>
              <p:cNvSpPr/>
              <p:nvPr/>
            </p:nvSpPr>
            <p:spPr>
              <a:xfrm rot="16200000">
                <a:off x="6444361" y="2765527"/>
                <a:ext cx="513228" cy="1266549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107180" y="2842995"/>
                <a:ext cx="9541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CutMix</a:t>
                </a:r>
                <a:endParaRPr lang="ko-KR" altLang="en-US" dirty="0"/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7138571" y="2444579"/>
              <a:ext cx="30101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b="1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CutMix</a:t>
              </a:r>
              <a:r>
                <a:rPr lang="en-US" altLang="ko-KR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Augmented Image</a:t>
              </a:r>
              <a:endParaRPr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991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Method</a:t>
            </a:r>
            <a:endParaRPr lang="en-US" altLang="ko-KR" sz="3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59181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VLM Fine-Tuning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2051439" y="1617852"/>
            <a:ext cx="4867095" cy="4220181"/>
            <a:chOff x="1455506" y="1617852"/>
            <a:chExt cx="4867095" cy="4220181"/>
          </a:xfrm>
        </p:grpSpPr>
        <p:grpSp>
          <p:nvGrpSpPr>
            <p:cNvPr id="2" name="Group 1"/>
            <p:cNvGrpSpPr/>
            <p:nvPr/>
          </p:nvGrpSpPr>
          <p:grpSpPr>
            <a:xfrm>
              <a:off x="5279598" y="2922411"/>
              <a:ext cx="1043003" cy="1089391"/>
              <a:chOff x="4979000" y="3917950"/>
              <a:chExt cx="1037379" cy="1089391"/>
            </a:xfrm>
          </p:grpSpPr>
          <p:sp>
            <p:nvSpPr>
              <p:cNvPr id="20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5069214" y="4539003"/>
                <a:ext cx="9471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Text</a:t>
                </a:r>
                <a:endParaRPr lang="en-US" altLang="ko-KR" sz="2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5069214" y="3968911"/>
                <a:ext cx="9471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Image</a:t>
                </a:r>
                <a:endParaRPr lang="en-US" altLang="ko-KR" sz="2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4979000" y="3917950"/>
                <a:ext cx="1010742" cy="1089391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9" name="Rectangle 38"/>
            <p:cNvSpPr/>
            <p:nvPr/>
          </p:nvSpPr>
          <p:spPr>
            <a:xfrm>
              <a:off x="1891904" y="5468701"/>
              <a:ext cx="23903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Prompt Engineering</a:t>
              </a:r>
              <a:endParaRPr lang="ko-KR" altLang="en-US" b="1" dirty="0">
                <a:solidFill>
                  <a:srgbClr val="002060"/>
                </a:solidFill>
              </a:endParaRPr>
            </a:p>
          </p:txBody>
        </p:sp>
        <p:sp>
          <p:nvSpPr>
            <p:cNvPr id="42" name="Down Arrow 41"/>
            <p:cNvSpPr/>
            <p:nvPr/>
          </p:nvSpPr>
          <p:spPr>
            <a:xfrm rot="10800000">
              <a:off x="2899297" y="4986352"/>
              <a:ext cx="375612" cy="432434"/>
            </a:xfrm>
            <a:prstGeom prst="downArrow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1455506" y="1617852"/>
              <a:ext cx="3189268" cy="1811228"/>
              <a:chOff x="1049810" y="1617852"/>
              <a:chExt cx="3189268" cy="1811228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1555057" y="2053569"/>
                <a:ext cx="2178774" cy="1242953"/>
                <a:chOff x="5119687" y="2109932"/>
                <a:chExt cx="2178774" cy="1242953"/>
              </a:xfrm>
            </p:grpSpPr>
            <p:pic>
              <p:nvPicPr>
                <p:cNvPr id="36" name="Picture 35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204" b="23190"/>
                <a:stretch/>
              </p:blipFill>
              <p:spPr>
                <a:xfrm>
                  <a:off x="5119687" y="2109932"/>
                  <a:ext cx="2178774" cy="1242953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pic>
              <p:nvPicPr>
                <p:cNvPr id="37" name="Picture 36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9954" y="2265638"/>
                  <a:ext cx="942976" cy="330201"/>
                </a:xfrm>
                <a:prstGeom prst="rect">
                  <a:avLst/>
                </a:prstGeom>
              </p:spPr>
            </p:pic>
          </p:grpSp>
          <p:sp>
            <p:nvSpPr>
              <p:cNvPr id="35" name="Rectangle 34"/>
              <p:cNvSpPr/>
              <p:nvPr/>
            </p:nvSpPr>
            <p:spPr>
              <a:xfrm>
                <a:off x="1139353" y="1635106"/>
                <a:ext cx="30101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CutMix</a:t>
                </a:r>
                <a:r>
                  <a:rPr lang="en-US" altLang="ko-K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Augmented Image</a:t>
                </a:r>
                <a:endParaRPr lang="ko-KR" altLang="en-US" b="1" dirty="0"/>
              </a:p>
            </p:txBody>
          </p:sp>
          <p:sp>
            <p:nvSpPr>
              <p:cNvPr id="53" name="Rounded Rectangle 52"/>
              <p:cNvSpPr/>
              <p:nvPr/>
            </p:nvSpPr>
            <p:spPr>
              <a:xfrm>
                <a:off x="1049810" y="1617852"/>
                <a:ext cx="3189268" cy="1811228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4658793" y="2523466"/>
              <a:ext cx="617636" cy="1844345"/>
              <a:chOff x="4228038" y="2523466"/>
              <a:chExt cx="1051560" cy="1844345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>
                <a:off x="4228038" y="2523466"/>
                <a:ext cx="1051560" cy="639730"/>
              </a:xfrm>
              <a:prstGeom prst="straightConnector1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 flipV="1">
                <a:off x="4228038" y="3727731"/>
                <a:ext cx="1051560" cy="640080"/>
              </a:xfrm>
              <a:prstGeom prst="straightConnector1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Rectangle 37"/>
            <p:cNvSpPr/>
            <p:nvPr/>
          </p:nvSpPr>
          <p:spPr>
            <a:xfrm>
              <a:off x="2557952" y="3942032"/>
              <a:ext cx="9925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Prompt</a:t>
              </a:r>
              <a:endParaRPr lang="ko-KR" altLang="en-US" b="1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826182" y="4375055"/>
              <a:ext cx="2456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lang="ko-KR" altLang="en-US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이 상품의 이름은 뭐야</a:t>
              </a:r>
              <a:r>
                <a:rPr lang="en-US" altLang="ko-KR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?”</a:t>
              </a:r>
              <a:endParaRPr lang="ko-KR" altLang="en-US" sz="1600" i="1" dirty="0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467842" y="3917950"/>
              <a:ext cx="3176932" cy="930924"/>
            </a:xfrm>
            <a:prstGeom prst="round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6761239" y="2115288"/>
            <a:ext cx="3401608" cy="3567867"/>
            <a:chOff x="6761239" y="2115288"/>
            <a:chExt cx="3401608" cy="3567867"/>
          </a:xfrm>
        </p:grpSpPr>
        <p:cxnSp>
          <p:nvCxnSpPr>
            <p:cNvPr id="10" name="Straight Arrow Connector 9"/>
            <p:cNvCxnSpPr>
              <a:stCxn id="19" idx="3"/>
            </p:cNvCxnSpPr>
            <p:nvPr/>
          </p:nvCxnSpPr>
          <p:spPr>
            <a:xfrm>
              <a:off x="6891753" y="3467107"/>
              <a:ext cx="682830" cy="3745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79">
              <a:extLst>
                <a:ext uri="{FF2B5EF4-FFF2-40B4-BE49-F238E27FC236}">
                  <a16:creationId xmlns:a16="http://schemas.microsoft.com/office/drawing/2014/main" id="{21F32988-0C21-962E-9802-6624AC02E23F}"/>
                </a:ext>
              </a:extLst>
            </p:cNvPr>
            <p:cNvSpPr/>
            <p:nvPr/>
          </p:nvSpPr>
          <p:spPr>
            <a:xfrm>
              <a:off x="7676175" y="4557011"/>
              <a:ext cx="157173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 smtClean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Response</a:t>
              </a:r>
              <a:endParaRPr lang="en-US" altLang="ko-KR" sz="2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268243" y="2844806"/>
              <a:ext cx="2387600" cy="12446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ysClr val="windowText" lastClr="000000"/>
                  </a:solidFill>
                </a:rPr>
                <a:t>VLM</a:t>
              </a:r>
              <a:endParaRPr lang="ko-KR" altLang="en-US" sz="24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473896" y="4989922"/>
              <a:ext cx="197629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lang="ko-KR" altLang="en-US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이 상품의 이름은 힘차다</a:t>
              </a:r>
              <a:r>
                <a:rPr lang="en-US" altLang="ko-KR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ko-KR" altLang="en-US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입니다</a:t>
              </a:r>
              <a:r>
                <a:rPr lang="en-US" altLang="ko-KR" sz="16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.”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761239" y="2115288"/>
              <a:ext cx="340160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Parameter-efficient Fine-Tuning (PEFT)</a:t>
              </a:r>
              <a:endParaRPr lang="ko-KR" altLang="en-US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7347802" y="4522040"/>
              <a:ext cx="2228482" cy="1161115"/>
            </a:xfrm>
            <a:prstGeom prst="round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Straight Arrow Connector 81"/>
            <p:cNvCxnSpPr>
              <a:stCxn id="12" idx="2"/>
              <a:endCxn id="80" idx="0"/>
            </p:cNvCxnSpPr>
            <p:nvPr/>
          </p:nvCxnSpPr>
          <p:spPr>
            <a:xfrm>
              <a:off x="8462043" y="4089406"/>
              <a:ext cx="0" cy="432634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629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Method</a:t>
            </a:r>
            <a:endParaRPr lang="en-US" altLang="ko-KR" sz="3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59181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Service (App &amp; Web)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63376" y="1309952"/>
            <a:ext cx="10760383" cy="4849548"/>
            <a:chOff x="463376" y="1309952"/>
            <a:chExt cx="10760383" cy="4849548"/>
          </a:xfrm>
        </p:grpSpPr>
        <p:grpSp>
          <p:nvGrpSpPr>
            <p:cNvPr id="5" name="Group 4"/>
            <p:cNvGrpSpPr/>
            <p:nvPr/>
          </p:nvGrpSpPr>
          <p:grpSpPr>
            <a:xfrm>
              <a:off x="463376" y="2228988"/>
              <a:ext cx="1430606" cy="1867912"/>
              <a:chOff x="610433" y="2081794"/>
              <a:chExt cx="1430606" cy="1867912"/>
            </a:xfrm>
          </p:grpSpPr>
          <p:pic>
            <p:nvPicPr>
              <p:cNvPr id="2050" name="Picture 2" descr="900+ Free User &amp; Avatar Images - Pixabay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0433" y="2519100"/>
                <a:ext cx="1430606" cy="1430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3" name="Rectangle 62"/>
              <p:cNvSpPr/>
              <p:nvPr/>
            </p:nvSpPr>
            <p:spPr>
              <a:xfrm>
                <a:off x="976923" y="2081794"/>
                <a:ext cx="6976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User</a:t>
                </a:r>
                <a:endParaRPr lang="ko-KR" altLang="en-US" b="1" dirty="0"/>
              </a:p>
            </p:txBody>
          </p:sp>
        </p:grpSp>
        <p:pic>
          <p:nvPicPr>
            <p:cNvPr id="125" name="Picture 12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064"/>
            <a:stretch/>
          </p:blipFill>
          <p:spPr>
            <a:xfrm>
              <a:off x="4101106" y="1787599"/>
              <a:ext cx="2035280" cy="21978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127" name="Group 126"/>
            <p:cNvGrpSpPr/>
            <p:nvPr/>
          </p:nvGrpSpPr>
          <p:grpSpPr>
            <a:xfrm>
              <a:off x="7443447" y="3199050"/>
              <a:ext cx="1043003" cy="1089391"/>
              <a:chOff x="4979000" y="3917950"/>
              <a:chExt cx="1037379" cy="1089391"/>
            </a:xfrm>
          </p:grpSpPr>
          <p:sp>
            <p:nvSpPr>
              <p:cNvPr id="140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5069214" y="4539003"/>
                <a:ext cx="9471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Text</a:t>
                </a:r>
                <a:endParaRPr lang="en-US" altLang="ko-KR" sz="2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1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5069214" y="3968911"/>
                <a:ext cx="9471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Image</a:t>
                </a:r>
                <a:endParaRPr lang="en-US" altLang="ko-KR" sz="2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2" name="Rounded Rectangle 141"/>
              <p:cNvSpPr/>
              <p:nvPr/>
            </p:nvSpPr>
            <p:spPr>
              <a:xfrm>
                <a:off x="4979000" y="3917950"/>
                <a:ext cx="1010742" cy="1089391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>
              <a:off x="6822642" y="2800105"/>
              <a:ext cx="617636" cy="1844345"/>
              <a:chOff x="4228038" y="2523466"/>
              <a:chExt cx="1051560" cy="1844345"/>
            </a:xfrm>
          </p:grpSpPr>
          <p:cxnSp>
            <p:nvCxnSpPr>
              <p:cNvPr id="133" name="Straight Arrow Connector 132"/>
              <p:cNvCxnSpPr/>
              <p:nvPr/>
            </p:nvCxnSpPr>
            <p:spPr>
              <a:xfrm>
                <a:off x="4228038" y="2523466"/>
                <a:ext cx="1051560" cy="639730"/>
              </a:xfrm>
              <a:prstGeom prst="straightConnector1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 flipV="1">
                <a:off x="4228038" y="3727731"/>
                <a:ext cx="1051560" cy="640080"/>
              </a:xfrm>
              <a:prstGeom prst="straightConnector1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Rectangle 129"/>
            <p:cNvSpPr/>
            <p:nvPr/>
          </p:nvSpPr>
          <p:spPr>
            <a:xfrm>
              <a:off x="4622456" y="4218671"/>
              <a:ext cx="9925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Prompt</a:t>
              </a:r>
              <a:endParaRPr lang="ko-KR" altLang="en-US" b="1" dirty="0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3890686" y="4651694"/>
              <a:ext cx="2456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lang="ko-KR" alt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이 제품의 이름이 뭐야</a:t>
              </a:r>
              <a:r>
                <a:rPr lang="en-US" altLang="ko-KR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?”</a:t>
              </a:r>
              <a:endParaRPr lang="ko-KR" altLang="en-US" sz="1600" i="1" dirty="0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3724238" y="4194589"/>
              <a:ext cx="2793148" cy="930924"/>
            </a:xfrm>
            <a:prstGeom prst="round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Straight Arrow Connector 143"/>
            <p:cNvCxnSpPr>
              <a:stCxn id="142" idx="3"/>
            </p:cNvCxnSpPr>
            <p:nvPr/>
          </p:nvCxnSpPr>
          <p:spPr>
            <a:xfrm>
              <a:off x="8459669" y="3780718"/>
              <a:ext cx="682830" cy="3745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직사각형 1079">
              <a:extLst>
                <a:ext uri="{FF2B5EF4-FFF2-40B4-BE49-F238E27FC236}">
                  <a16:creationId xmlns:a16="http://schemas.microsoft.com/office/drawing/2014/main" id="{21F32988-0C21-962E-9802-6624AC02E23F}"/>
                </a:ext>
              </a:extLst>
            </p:cNvPr>
            <p:cNvSpPr/>
            <p:nvPr/>
          </p:nvSpPr>
          <p:spPr>
            <a:xfrm>
              <a:off x="9244091" y="4833650"/>
              <a:ext cx="157173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 smtClean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Response</a:t>
              </a:r>
              <a:endParaRPr lang="en-US" altLang="ko-KR" sz="2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8836159" y="3121445"/>
              <a:ext cx="2387600" cy="12446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ysClr val="windowText" lastClr="000000"/>
                  </a:solidFill>
                </a:rPr>
                <a:t>Fine-Tuned</a:t>
              </a:r>
            </a:p>
            <a:p>
              <a:pPr algn="ctr"/>
              <a:r>
                <a:rPr lang="en-US" altLang="ko-KR" sz="2400" b="1" dirty="0" smtClean="0">
                  <a:solidFill>
                    <a:sysClr val="windowText" lastClr="000000"/>
                  </a:solidFill>
                </a:rPr>
                <a:t>VLM</a:t>
              </a:r>
              <a:endParaRPr lang="ko-KR" altLang="en-US" sz="24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9041812" y="5266561"/>
              <a:ext cx="197629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lang="ko-KR" alt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이 제품의 이름은 농심 매운 </a:t>
              </a:r>
              <a:r>
                <a:rPr lang="ko-KR" altLang="en-US" sz="16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새우깡입니다</a:t>
              </a:r>
              <a:r>
                <a:rPr lang="en-US" altLang="ko-KR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.”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8916802" y="2717142"/>
              <a:ext cx="222631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Inference</a:t>
              </a:r>
              <a:endParaRPr lang="ko-KR" altLang="en-US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49" name="Rounded Rectangle 148"/>
            <p:cNvSpPr/>
            <p:nvPr/>
          </p:nvSpPr>
          <p:spPr>
            <a:xfrm>
              <a:off x="8915718" y="4798679"/>
              <a:ext cx="2228482" cy="1360821"/>
            </a:xfrm>
            <a:prstGeom prst="round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0" name="Straight Arrow Connector 149"/>
            <p:cNvCxnSpPr>
              <a:stCxn id="146" idx="2"/>
              <a:endCxn id="149" idx="0"/>
            </p:cNvCxnSpPr>
            <p:nvPr/>
          </p:nvCxnSpPr>
          <p:spPr>
            <a:xfrm>
              <a:off x="10029959" y="4366045"/>
              <a:ext cx="0" cy="432634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Down Arrow 150"/>
            <p:cNvSpPr/>
            <p:nvPr/>
          </p:nvSpPr>
          <p:spPr>
            <a:xfrm rot="16200000">
              <a:off x="2003702" y="3065411"/>
              <a:ext cx="443438" cy="479306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Rounded Rectangle 152"/>
            <p:cNvSpPr/>
            <p:nvPr/>
          </p:nvSpPr>
          <p:spPr>
            <a:xfrm>
              <a:off x="3445763" y="1309952"/>
              <a:ext cx="3350098" cy="3962959"/>
            </a:xfrm>
            <a:prstGeom prst="round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4455744" y="1335352"/>
              <a:ext cx="13260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User Input</a:t>
              </a:r>
              <a:endParaRPr lang="ko-KR" altLang="en-US" b="1" dirty="0"/>
            </a:p>
          </p:txBody>
        </p:sp>
        <p:pic>
          <p:nvPicPr>
            <p:cNvPr id="2052" name="Picture 4" descr="삼성 갤럭시 - 무료 과학 기술개 아이콘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500" y="2749299"/>
              <a:ext cx="1084263" cy="10842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151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Method</a:t>
            </a:r>
            <a:endParaRPr lang="en-US" altLang="ko-KR" sz="3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E0ADD7B4-D42D-C6ED-F2B6-D7E00DC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4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59181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lang="en-US" altLang="ko-K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676330" y="1550888"/>
            <a:ext cx="11189328" cy="4059753"/>
            <a:chOff x="612830" y="1617852"/>
            <a:chExt cx="11579170" cy="4201197"/>
          </a:xfrm>
        </p:grpSpPr>
        <p:cxnSp>
          <p:nvCxnSpPr>
            <p:cNvPr id="100" name="Straight Arrow Connector 99"/>
            <p:cNvCxnSpPr/>
            <p:nvPr/>
          </p:nvCxnSpPr>
          <p:spPr>
            <a:xfrm>
              <a:off x="8933454" y="3467107"/>
              <a:ext cx="682830" cy="3745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78"/>
            <p:cNvGrpSpPr/>
            <p:nvPr/>
          </p:nvGrpSpPr>
          <p:grpSpPr>
            <a:xfrm>
              <a:off x="4080592" y="1617852"/>
              <a:ext cx="4867095" cy="4201197"/>
              <a:chOff x="1455506" y="1617852"/>
              <a:chExt cx="4867095" cy="4201197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5279598" y="2922411"/>
                <a:ext cx="1043003" cy="1089391"/>
                <a:chOff x="4979000" y="3917950"/>
                <a:chExt cx="1037379" cy="1089391"/>
              </a:xfrm>
            </p:grpSpPr>
            <p:sp>
              <p:nvSpPr>
                <p:cNvPr id="20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5069214" y="4539003"/>
                  <a:ext cx="947165" cy="38220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Text</a:t>
                  </a:r>
                  <a:endParaRPr lang="en-US" altLang="ko-KR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직사각형 1079">
                  <a:extLst>
                    <a:ext uri="{FF2B5EF4-FFF2-40B4-BE49-F238E27FC236}">
                      <a16:creationId xmlns:a16="http://schemas.microsoft.com/office/drawing/2014/main" id="{21F32988-0C21-962E-9802-6624AC02E23F}"/>
                    </a:ext>
                  </a:extLst>
                </p:cNvPr>
                <p:cNvSpPr/>
                <p:nvPr/>
              </p:nvSpPr>
              <p:spPr>
                <a:xfrm>
                  <a:off x="5069214" y="3968911"/>
                  <a:ext cx="947165" cy="38220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 smtClean="0"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Image</a:t>
                  </a:r>
                  <a:endParaRPr lang="en-US" altLang="ko-KR" dirty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Rounded Rectangle 18"/>
                <p:cNvSpPr/>
                <p:nvPr/>
              </p:nvSpPr>
              <p:spPr>
                <a:xfrm>
                  <a:off x="4979000" y="3917950"/>
                  <a:ext cx="1010742" cy="1089391"/>
                </a:xfrm>
                <a:prstGeom prst="roundRect">
                  <a:avLst/>
                </a:prstGeom>
                <a:noFill/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sp>
            <p:nvSpPr>
              <p:cNvPr id="39" name="Rectangle 38"/>
              <p:cNvSpPr/>
              <p:nvPr/>
            </p:nvSpPr>
            <p:spPr>
              <a:xfrm>
                <a:off x="1977165" y="5468700"/>
                <a:ext cx="2219877" cy="350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600" b="1" dirty="0" smtClean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Prompt Engineering</a:t>
                </a:r>
                <a:endParaRPr lang="ko-KR" altLang="en-US" sz="1600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42" name="Down Arrow 41"/>
              <p:cNvSpPr/>
              <p:nvPr/>
            </p:nvSpPr>
            <p:spPr>
              <a:xfrm rot="10800000">
                <a:off x="2899297" y="4986352"/>
                <a:ext cx="375612" cy="432434"/>
              </a:xfrm>
              <a:prstGeom prst="downArrow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1455506" y="1617852"/>
                <a:ext cx="3189268" cy="1811228"/>
                <a:chOff x="1049810" y="1617852"/>
                <a:chExt cx="3189268" cy="1811228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1555057" y="2053569"/>
                  <a:ext cx="2178774" cy="1242953"/>
                  <a:chOff x="5119687" y="2109932"/>
                  <a:chExt cx="2178774" cy="1242953"/>
                </a:xfrm>
              </p:grpSpPr>
              <p:pic>
                <p:nvPicPr>
                  <p:cNvPr id="36" name="Picture 35"/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46204" b="23190"/>
                  <a:stretch/>
                </p:blipFill>
                <p:spPr>
                  <a:xfrm>
                    <a:off x="5119687" y="2109932"/>
                    <a:ext cx="2178774" cy="1242953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37" name="Picture 36"/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19954" y="2265638"/>
                    <a:ext cx="942976" cy="33020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5" name="Rectangle 34"/>
                <p:cNvSpPr/>
                <p:nvPr/>
              </p:nvSpPr>
              <p:spPr>
                <a:xfrm>
                  <a:off x="1139353" y="1635106"/>
                  <a:ext cx="2790921" cy="35034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b="1" dirty="0" err="1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CutMix</a:t>
                  </a:r>
                  <a:r>
                    <a:rPr lang="en-US" altLang="ko-KR" sz="1600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 Augmented Image</a:t>
                  </a:r>
                  <a:endParaRPr lang="ko-KR" altLang="en-US" sz="1600" b="1" dirty="0"/>
                </a:p>
              </p:txBody>
            </p:sp>
            <p:sp>
              <p:nvSpPr>
                <p:cNvPr id="53" name="Rounded Rectangle 52"/>
                <p:cNvSpPr/>
                <p:nvPr/>
              </p:nvSpPr>
              <p:spPr>
                <a:xfrm>
                  <a:off x="1049810" y="1617852"/>
                  <a:ext cx="3189268" cy="1811228"/>
                </a:xfrm>
                <a:prstGeom prst="roundRect">
                  <a:avLst/>
                </a:prstGeom>
                <a:noFill/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78" name="Group 77"/>
              <p:cNvGrpSpPr/>
              <p:nvPr/>
            </p:nvGrpSpPr>
            <p:grpSpPr>
              <a:xfrm>
                <a:off x="4658794" y="2523466"/>
                <a:ext cx="617637" cy="1844345"/>
                <a:chOff x="4228037" y="2523466"/>
                <a:chExt cx="1051561" cy="1844345"/>
              </a:xfrm>
            </p:grpSpPr>
            <p:cxnSp>
              <p:nvCxnSpPr>
                <p:cNvPr id="44" name="Straight Arrow Connector 43"/>
                <p:cNvCxnSpPr/>
                <p:nvPr/>
              </p:nvCxnSpPr>
              <p:spPr>
                <a:xfrm>
                  <a:off x="4228037" y="2523466"/>
                  <a:ext cx="1051561" cy="639730"/>
                </a:xfrm>
                <a:prstGeom prst="straightConnector1">
                  <a:avLst/>
                </a:prstGeom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/>
                <p:cNvCxnSpPr/>
                <p:nvPr/>
              </p:nvCxnSpPr>
              <p:spPr>
                <a:xfrm flipV="1">
                  <a:off x="4228038" y="3727731"/>
                  <a:ext cx="1051560" cy="640080"/>
                </a:xfrm>
                <a:prstGeom prst="straightConnector1">
                  <a:avLst/>
                </a:prstGeom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Rectangle 37"/>
              <p:cNvSpPr/>
              <p:nvPr/>
            </p:nvSpPr>
            <p:spPr>
              <a:xfrm>
                <a:off x="2587108" y="3942032"/>
                <a:ext cx="934265" cy="350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6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Prompt</a:t>
                </a:r>
                <a:endParaRPr lang="ko-KR" altLang="en-US" sz="1600" b="1" dirty="0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932693" y="4375055"/>
                <a:ext cx="2243100" cy="3185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ko-KR" alt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이 상품의 이름은 뭐야</a:t>
                </a:r>
                <a:r>
                  <a:rPr lang="en-US" altLang="ko-KR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?”</a:t>
                </a:r>
                <a:endParaRPr lang="ko-KR" altLang="en-US" sz="1400" i="1" dirty="0"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1467842" y="3917950"/>
                <a:ext cx="3176932" cy="930924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8790392" y="2115288"/>
              <a:ext cx="3401608" cy="3567867"/>
              <a:chOff x="6761239" y="2115288"/>
              <a:chExt cx="3401608" cy="3567867"/>
            </a:xfrm>
          </p:grpSpPr>
          <p:cxnSp>
            <p:nvCxnSpPr>
              <p:cNvPr id="10" name="Straight Arrow Connector 9"/>
              <p:cNvCxnSpPr>
                <a:stCxn id="19" idx="3"/>
              </p:cNvCxnSpPr>
              <p:nvPr/>
            </p:nvCxnSpPr>
            <p:spPr>
              <a:xfrm>
                <a:off x="8920906" y="3467107"/>
                <a:ext cx="682830" cy="3745"/>
              </a:xfrm>
              <a:prstGeom prst="straightConnector1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7676175" y="4557011"/>
                <a:ext cx="1571737" cy="3822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b="1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Response</a:t>
                </a:r>
                <a:endParaRPr lang="en-US" altLang="ko-KR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268243" y="2844806"/>
                <a:ext cx="2387600" cy="12446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 smtClean="0">
                    <a:solidFill>
                      <a:sysClr val="windowText" lastClr="000000"/>
                    </a:solidFill>
                  </a:rPr>
                  <a:t>VLM</a:t>
                </a:r>
                <a:endParaRPr lang="ko-KR" altLang="en-US" sz="2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7473896" y="4989922"/>
                <a:ext cx="1976294" cy="541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ko-KR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ko-KR" alt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이 상품의 이름은 힘차다</a:t>
                </a:r>
                <a:r>
                  <a:rPr lang="en-US" altLang="ko-KR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ko-KR" alt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입니다</a:t>
                </a:r>
                <a:r>
                  <a:rPr lang="en-US" altLang="ko-KR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.”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6761239" y="2115288"/>
                <a:ext cx="3401608" cy="6051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 b="1" dirty="0" smtClean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Parameter-efficient Fine-Tuning (PEFT)</a:t>
                </a:r>
                <a:endParaRPr lang="ko-KR" altLang="en-US" sz="16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7347802" y="4522040"/>
                <a:ext cx="2228482" cy="1161115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cxnSp>
            <p:nvCxnSpPr>
              <p:cNvPr id="82" name="Straight Arrow Connector 81"/>
              <p:cNvCxnSpPr>
                <a:stCxn id="12" idx="2"/>
                <a:endCxn id="80" idx="0"/>
              </p:cNvCxnSpPr>
              <p:nvPr/>
            </p:nvCxnSpPr>
            <p:spPr>
              <a:xfrm>
                <a:off x="8462043" y="4089406"/>
                <a:ext cx="0" cy="432634"/>
              </a:xfrm>
              <a:prstGeom prst="straightConnector1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/>
            <p:cNvGrpSpPr/>
            <p:nvPr/>
          </p:nvGrpSpPr>
          <p:grpSpPr>
            <a:xfrm>
              <a:off x="612830" y="1634696"/>
              <a:ext cx="2806155" cy="2561068"/>
              <a:chOff x="2288064" y="1716586"/>
              <a:chExt cx="3363436" cy="3069677"/>
            </a:xfrm>
          </p:grpSpPr>
          <p:sp>
            <p:nvSpPr>
              <p:cNvPr id="89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2568261" y="1823303"/>
                <a:ext cx="2935409" cy="458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Image template</a:t>
                </a:r>
                <a:endParaRPr lang="en-US" altLang="ko-KR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0" name="직사각형 1079">
                <a:extLst>
                  <a:ext uri="{FF2B5EF4-FFF2-40B4-BE49-F238E27FC236}">
                    <a16:creationId xmlns:a16="http://schemas.microsoft.com/office/drawing/2014/main" id="{21F32988-0C21-962E-9802-6624AC02E23F}"/>
                  </a:ext>
                </a:extLst>
              </p:cNvPr>
              <p:cNvSpPr/>
              <p:nvPr/>
            </p:nvSpPr>
            <p:spPr>
              <a:xfrm>
                <a:off x="2568263" y="3635159"/>
                <a:ext cx="2867337" cy="458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dirty="0" smtClean="0"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Text</a:t>
                </a:r>
                <a:endParaRPr lang="en-US" altLang="ko-KR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pic>
            <p:nvPicPr>
              <p:cNvPr id="91" name="Picture 9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6204" b="23190"/>
              <a:stretch/>
            </p:blipFill>
            <p:spPr>
              <a:xfrm>
                <a:off x="2922587" y="2323040"/>
                <a:ext cx="2178774" cy="12429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92" name="Picture 9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2587" y="4110642"/>
                <a:ext cx="1543051" cy="540328"/>
              </a:xfrm>
              <a:prstGeom prst="rect">
                <a:avLst/>
              </a:prstGeom>
            </p:spPr>
          </p:pic>
          <p:sp>
            <p:nvSpPr>
              <p:cNvPr id="93" name="Rounded Rectangle 92"/>
              <p:cNvSpPr/>
              <p:nvPr/>
            </p:nvSpPr>
            <p:spPr>
              <a:xfrm>
                <a:off x="2288064" y="1716586"/>
                <a:ext cx="3363436" cy="3069677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cxnSp>
          <p:nvCxnSpPr>
            <p:cNvPr id="111" name="Straight Arrow Connector 110"/>
            <p:cNvCxnSpPr/>
            <p:nvPr/>
          </p:nvCxnSpPr>
          <p:spPr>
            <a:xfrm>
              <a:off x="3434094" y="2528346"/>
              <a:ext cx="682830" cy="3745"/>
            </a:xfrm>
            <a:prstGeom prst="straightConnector1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Oval 104"/>
          <p:cNvSpPr/>
          <p:nvPr/>
        </p:nvSpPr>
        <p:spPr>
          <a:xfrm>
            <a:off x="1782772" y="1200600"/>
            <a:ext cx="498794" cy="498794"/>
          </a:xfrm>
          <a:prstGeom prst="ellipse">
            <a:avLst/>
          </a:prstGeom>
          <a:solidFill>
            <a:srgbClr val="FFE1E1"/>
          </a:solidFill>
          <a:ln w="28575">
            <a:solidFill>
              <a:srgbClr val="FF4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</a:rPr>
              <a:t>1</a:t>
            </a:r>
            <a:endParaRPr lang="ko-KR" altLang="en-US" sz="2400" dirty="0">
              <a:solidFill>
                <a:srgbClr val="002060"/>
              </a:solidFill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356514" y="1200600"/>
            <a:ext cx="498794" cy="498794"/>
          </a:xfrm>
          <a:prstGeom prst="ellipse">
            <a:avLst/>
          </a:prstGeom>
          <a:solidFill>
            <a:srgbClr val="FFE1E1"/>
          </a:solidFill>
          <a:ln w="28575">
            <a:solidFill>
              <a:srgbClr val="FF4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</a:rPr>
              <a:t>2</a:t>
            </a:r>
            <a:endParaRPr lang="ko-KR" altLang="en-US" sz="2400" dirty="0">
              <a:solidFill>
                <a:srgbClr val="002060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356514" y="5521862"/>
            <a:ext cx="498794" cy="498794"/>
          </a:xfrm>
          <a:prstGeom prst="ellipse">
            <a:avLst/>
          </a:prstGeom>
          <a:solidFill>
            <a:srgbClr val="FFE1E1"/>
          </a:solidFill>
          <a:ln w="28575">
            <a:solidFill>
              <a:srgbClr val="FF4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</a:rPr>
              <a:t>3</a:t>
            </a:r>
            <a:endParaRPr lang="ko-KR" altLang="en-US" sz="2400" dirty="0">
              <a:solidFill>
                <a:srgbClr val="002060"/>
              </a:solidFill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9972718" y="1639364"/>
            <a:ext cx="498794" cy="498794"/>
          </a:xfrm>
          <a:prstGeom prst="ellipse">
            <a:avLst/>
          </a:prstGeom>
          <a:solidFill>
            <a:srgbClr val="FFE1E1"/>
          </a:solidFill>
          <a:ln w="28575">
            <a:solidFill>
              <a:srgbClr val="FF4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</a:rPr>
              <a:t>4</a:t>
            </a:r>
            <a:endParaRPr lang="ko-KR" altLang="en-US" sz="2400" dirty="0">
              <a:solidFill>
                <a:srgbClr val="002060"/>
              </a:solidFill>
            </a:endParaRPr>
          </a:p>
        </p:txBody>
      </p:sp>
      <p:pic>
        <p:nvPicPr>
          <p:cNvPr id="109" name="Picture 4" descr="삼성 갤럭시 - 무료 과학 기술개 아이콘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597" y="5272087"/>
            <a:ext cx="1084263" cy="108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Down Arrow 109"/>
          <p:cNvSpPr/>
          <p:nvPr/>
        </p:nvSpPr>
        <p:spPr>
          <a:xfrm rot="2700000">
            <a:off x="2992351" y="4181387"/>
            <a:ext cx="612040" cy="683306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2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1039811" y="4840541"/>
            <a:ext cx="28658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Service (App &amp; Web)</a:t>
            </a:r>
            <a:endParaRPr lang="en-US" altLang="ko-KR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2222774" y="4443248"/>
            <a:ext cx="498794" cy="498794"/>
          </a:xfrm>
          <a:prstGeom prst="ellipse">
            <a:avLst/>
          </a:prstGeom>
          <a:solidFill>
            <a:srgbClr val="FFE1E1"/>
          </a:solidFill>
          <a:ln w="28575">
            <a:solidFill>
              <a:srgbClr val="FF4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002060"/>
                </a:solidFill>
              </a:rPr>
              <a:t>5</a:t>
            </a:r>
            <a:endParaRPr lang="ko-KR" alt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06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5" grpId="0" animBg="1"/>
      <p:bldP spid="106" grpId="0" animBg="1"/>
      <p:bldP spid="107" grpId="0" animBg="1"/>
      <p:bldP spid="108" grpId="0" animBg="1"/>
      <p:bldP spid="110" grpId="0" animBg="1"/>
      <p:bldP spid="112" grpId="0"/>
      <p:bldP spid="1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2710471" y="2783399"/>
            <a:ext cx="67710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Plan</a:t>
            </a:r>
            <a:endParaRPr lang="en-US" altLang="ko-KR" sz="44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91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7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+mn-ea"/>
                <a:cs typeface="Arial" panose="020B0604020202020204" pitchFamily="34" charset="0"/>
              </a:rPr>
              <a:t>Plan</a:t>
            </a:r>
            <a:endParaRPr lang="en-US" altLang="ko-KR" sz="3200" b="1" dirty="0"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413098"/>
              </p:ext>
            </p:extLst>
          </p:nvPr>
        </p:nvGraphicFramePr>
        <p:xfrm>
          <a:off x="1500616" y="985322"/>
          <a:ext cx="8975094" cy="521760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30004">
                  <a:extLst>
                    <a:ext uri="{9D8B030D-6E8A-4147-A177-3AD203B41FA5}">
                      <a16:colId xmlns:a16="http://schemas.microsoft.com/office/drawing/2014/main" val="1168847202"/>
                    </a:ext>
                  </a:extLst>
                </a:gridCol>
                <a:gridCol w="1978303">
                  <a:extLst>
                    <a:ext uri="{9D8B030D-6E8A-4147-A177-3AD203B41FA5}">
                      <a16:colId xmlns:a16="http://schemas.microsoft.com/office/drawing/2014/main" val="2331913808"/>
                    </a:ext>
                  </a:extLst>
                </a:gridCol>
                <a:gridCol w="6066787">
                  <a:extLst>
                    <a:ext uri="{9D8B030D-6E8A-4147-A177-3AD203B41FA5}">
                      <a16:colId xmlns:a16="http://schemas.microsoft.com/office/drawing/2014/main" val="540813454"/>
                    </a:ext>
                  </a:extLst>
                </a:gridCol>
              </a:tblGrid>
              <a:tr h="47604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구</a:t>
                      </a: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분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500" kern="100" dirty="0" err="1">
                          <a:effectLst/>
                          <a:latin typeface="+mn-ea"/>
                          <a:ea typeface="+mn-ea"/>
                        </a:rPr>
                        <a:t>실습내용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8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673" marR="29673" marT="0" marB="0" anchor="ctr"/>
                </a:tc>
                <a:extLst>
                  <a:ext uri="{0D108BD9-81ED-4DB2-BD59-A6C34878D82A}">
                    <a16:rowId xmlns:a16="http://schemas.microsoft.com/office/drawing/2014/main" val="3655736268"/>
                  </a:ext>
                </a:extLst>
              </a:tr>
              <a:tr h="67736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주차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학습 및 목표 설정</a:t>
                      </a: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tc>
                  <a:txBody>
                    <a:bodyPr/>
                    <a:lstStyle/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프로젝트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최근 연구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(Multimodal Large Language Model)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조사 및 학습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프로젝트 세부 목표 설정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extLst>
                  <a:ext uri="{0D108BD9-81ED-4DB2-BD59-A6C34878D82A}">
                    <a16:rowId xmlns:a16="http://schemas.microsoft.com/office/drawing/2014/main" val="3555107346"/>
                  </a:ext>
                </a:extLst>
              </a:tr>
              <a:tr h="67736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주차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환경 구축</a:t>
                      </a: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tc>
                  <a:txBody>
                    <a:bodyPr/>
                    <a:lstStyle/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프로젝트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개발 환경 구축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Image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Text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데이터 확보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extLst>
                  <a:ext uri="{0D108BD9-81ED-4DB2-BD59-A6C34878D82A}">
                    <a16:rowId xmlns:a16="http://schemas.microsoft.com/office/drawing/2014/main" val="2343061294"/>
                  </a:ext>
                </a:extLst>
              </a:tr>
              <a:tr h="67736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주차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개발</a:t>
                      </a: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tc>
                  <a:txBody>
                    <a:bodyPr/>
                    <a:lstStyle/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 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Vision-Language Model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성능 </a:t>
                      </a:r>
                      <a:r>
                        <a:rPr lang="ko-KR" sz="1300" kern="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재구현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en-US" sz="1300" kern="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CutMix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기반 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Image-Text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데이터 증강 기법 개발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extLst>
                  <a:ext uri="{0D108BD9-81ED-4DB2-BD59-A6C34878D82A}">
                    <a16:rowId xmlns:a16="http://schemas.microsoft.com/office/drawing/2014/main" val="639746448"/>
                  </a:ext>
                </a:extLst>
              </a:tr>
              <a:tr h="67736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주차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ko-KR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개발</a:t>
                      </a:r>
                      <a:r>
                        <a:rPr kumimoji="0" lang="en-US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]</a:t>
                      </a:r>
                      <a:endParaRPr kumimoji="0" lang="ko-KR" altLang="ko-KR" sz="1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tc>
                  <a:txBody>
                    <a:bodyPr/>
                    <a:lstStyle/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개발된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증강 기법을 통한 대규모 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Image-Text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데이터 생성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Prompt Engineering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활용하여 학습으로 사용할 최적의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Prompt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구현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extLst>
                  <a:ext uri="{0D108BD9-81ED-4DB2-BD59-A6C34878D82A}">
                    <a16:rowId xmlns:a16="http://schemas.microsoft.com/office/drawing/2014/main" val="2021992095"/>
                  </a:ext>
                </a:extLst>
              </a:tr>
              <a:tr h="67736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주차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ko-KR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개발</a:t>
                      </a:r>
                      <a:r>
                        <a:rPr kumimoji="0" lang="en-US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]</a:t>
                      </a:r>
                      <a:endParaRPr kumimoji="0" lang="ko-KR" altLang="ko-KR" sz="1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tc>
                  <a:txBody>
                    <a:bodyPr/>
                    <a:lstStyle/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증강된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데이터를 이용하여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Vision-Language Model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Fine-Tuning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학습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학습된 모델 성능 평가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extLst>
                  <a:ext uri="{0D108BD9-81ED-4DB2-BD59-A6C34878D82A}">
                    <a16:rowId xmlns:a16="http://schemas.microsoft.com/office/drawing/2014/main" val="3417032246"/>
                  </a:ext>
                </a:extLst>
              </a:tr>
              <a:tr h="67736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주차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ko-KR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개발</a:t>
                      </a:r>
                      <a:r>
                        <a:rPr kumimoji="0" lang="en-US" altLang="ko-KR" sz="13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]</a:t>
                      </a:r>
                      <a:endParaRPr kumimoji="0" lang="ko-KR" altLang="ko-KR" sz="17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tc>
                  <a:txBody>
                    <a:bodyPr/>
                    <a:lstStyle/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en-US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Hyper-parameter </a:t>
                      </a:r>
                      <a:r>
                        <a:rPr lang="en-US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Tuning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통한 모델 성능 고도화 및 모델 최적화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앱 및 웹으로 구현된 모델 서비스 제공 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extLst>
                  <a:ext uri="{0D108BD9-81ED-4DB2-BD59-A6C34878D82A}">
                    <a16:rowId xmlns:a16="http://schemas.microsoft.com/office/drawing/2014/main" val="1833276827"/>
                  </a:ext>
                </a:extLst>
              </a:tr>
              <a:tr h="67736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sz="1500" kern="100" dirty="0">
                          <a:effectLst/>
                          <a:latin typeface="+mn-ea"/>
                          <a:ea typeface="+mn-ea"/>
                        </a:rPr>
                        <a:t>주차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76" marR="27476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발표 시연 및 후속작업</a:t>
                      </a:r>
                      <a:r>
                        <a:rPr lang="en-US" alt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tc>
                  <a:txBody>
                    <a:bodyPr/>
                    <a:lstStyle/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프로젝트 </a:t>
                      </a: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발표 자료 작성 및 시연 준비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font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바탕체" panose="02030609000101010101" pitchFamily="17" charset="-127"/>
                        <a:buChar char="-"/>
                      </a:pPr>
                      <a:r>
                        <a:rPr lang="ko-KR" sz="13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특허 및 논문으로 발전 가능성 검토</a:t>
                      </a:r>
                      <a:endParaRPr lang="ko-KR" sz="17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279" marR="35279" marT="0" marB="0" anchor="ctr"/>
                </a:tc>
                <a:extLst>
                  <a:ext uri="{0D108BD9-81ED-4DB2-BD59-A6C34878D82A}">
                    <a16:rowId xmlns:a16="http://schemas.microsoft.com/office/drawing/2014/main" val="1104147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59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439A-326B-4073-BECB-78169A003E8B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14" y="1837574"/>
            <a:ext cx="6591172" cy="1802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311" y="4676276"/>
            <a:ext cx="3199464" cy="8894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326" y="4585129"/>
            <a:ext cx="2185770" cy="1071700"/>
          </a:xfrm>
          <a:prstGeom prst="rect">
            <a:avLst/>
          </a:prstGeom>
        </p:spPr>
      </p:pic>
      <p:sp>
        <p:nvSpPr>
          <p:cNvPr id="7" name="Rectangle 373">
            <a:extLst>
              <a:ext uri="{FF2B5EF4-FFF2-40B4-BE49-F238E27FC236}">
                <a16:creationId xmlns:a16="http://schemas.microsoft.com/office/drawing/2014/main" id="{CB0B9BD9-5E1B-1824-4053-D71517667614}"/>
              </a:ext>
            </a:extLst>
          </p:cNvPr>
          <p:cNvSpPr/>
          <p:nvPr/>
        </p:nvSpPr>
        <p:spPr>
          <a:xfrm>
            <a:off x="404733" y="223323"/>
            <a:ext cx="10159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altLang="ko-KR" sz="3200" b="1" dirty="0" smtClean="0">
                <a:latin typeface="+mn-ea"/>
                <a:cs typeface="Arial" panose="020B0604020202020204" pitchFamily="34" charset="0"/>
              </a:rPr>
              <a:t>Plan</a:t>
            </a:r>
            <a:endParaRPr lang="en-US" altLang="ko-KR" sz="3200" b="1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" name="Right Arrow 2"/>
          <p:cNvSpPr/>
          <p:nvPr/>
        </p:nvSpPr>
        <p:spPr>
          <a:xfrm rot="8100000">
            <a:off x="4220081" y="3862593"/>
            <a:ext cx="945000" cy="468084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ight Arrow 7"/>
          <p:cNvSpPr/>
          <p:nvPr/>
        </p:nvSpPr>
        <p:spPr>
          <a:xfrm rot="2700000">
            <a:off x="7032526" y="3862592"/>
            <a:ext cx="945000" cy="468084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079">
            <a:extLst>
              <a:ext uri="{FF2B5EF4-FFF2-40B4-BE49-F238E27FC236}">
                <a16:creationId xmlns:a16="http://schemas.microsoft.com/office/drawing/2014/main" id="{21F32988-0C21-962E-9802-6624AC02E23F}"/>
              </a:ext>
            </a:extLst>
          </p:cNvPr>
          <p:cNvSpPr/>
          <p:nvPr/>
        </p:nvSpPr>
        <p:spPr>
          <a:xfrm>
            <a:off x="973645" y="855795"/>
            <a:ext cx="39795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 smtClean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Writing Patent &amp; Paper</a:t>
            </a:r>
            <a:endParaRPr lang="en-US" altLang="ko-KR" sz="2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48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AC0439A-326B-4073-BECB-78169A003E8B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09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54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24402</TotalTime>
  <Words>936</Words>
  <Application>Microsoft Office PowerPoint</Application>
  <PresentationFormat>Widescreen</PresentationFormat>
  <Paragraphs>198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KoPub돋움체 Bold</vt:lpstr>
      <vt:lpstr>KoreanNGDL</vt:lpstr>
      <vt:lpstr>맑은 고딕</vt:lpstr>
      <vt:lpstr>바탕체</vt:lpstr>
      <vt:lpstr>Arial</vt:lpstr>
      <vt:lpstr>Calibri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선오</dc:creator>
  <cp:lastModifiedBy>Sunoh Kim</cp:lastModifiedBy>
  <cp:revision>2650</cp:revision>
  <dcterms:created xsi:type="dcterms:W3CDTF">2018-08-01T17:33:43Z</dcterms:created>
  <dcterms:modified xsi:type="dcterms:W3CDTF">2024-08-13T06:51:19Z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